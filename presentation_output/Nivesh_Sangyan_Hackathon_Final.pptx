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d6c45bfe994b87" /><Relationship Type="http://schemas.openxmlformats.org/officeDocument/2006/relationships/extended-properties" Target="/docProps/app.xml" Id="Rc64aea7d596f462b" /><Relationship Type="http://schemas.openxmlformats.org/officeDocument/2006/relationships/officeDocument" Target="/ppt/presentation.xml" Id="R94189074a7794b09" /></Relationships>
</file>

<file path=ppt/presentation.xml><?xml version="1.0" encoding="utf-8"?>
<p:presentation xmlns:p="http://schemas.openxmlformats.org/presentationml/2006/main">
  <p:sldMasterIdLst>
    <p:sldMasterId xmlns:r="http://schemas.openxmlformats.org/officeDocument/2006/relationships" id="2147483648" r:id="Rca373e755b5746b4"/>
  </p:sldMasterIdLst>
  <p:notesMasterIdLst>
    <p:notesMasterId xmlns:r="http://schemas.openxmlformats.org/officeDocument/2006/relationships" r:id="Rb45c5aa8b71b4292"/>
  </p:notesMasterIdLst>
  <p:sldIdLst>
    <p:sldId xmlns:r="http://schemas.openxmlformats.org/officeDocument/2006/relationships" id="256" r:id="R51b3d9f9c2824241"/>
    <p:sldId xmlns:r="http://schemas.openxmlformats.org/officeDocument/2006/relationships" id="257" r:id="R3833c44186ba4abb"/>
    <p:sldId xmlns:r="http://schemas.openxmlformats.org/officeDocument/2006/relationships" id="258" r:id="Rab5edbd57eba4f74"/>
    <p:sldId xmlns:r="http://schemas.openxmlformats.org/officeDocument/2006/relationships" id="259" r:id="R4bfd09c1b8c24738"/>
    <p:sldId xmlns:r="http://schemas.openxmlformats.org/officeDocument/2006/relationships" id="260" r:id="Ref88f143e74a4e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61aeb66e4848e9" /><Relationship Type="http://schemas.openxmlformats.org/officeDocument/2006/relationships/slideMaster" Target="/ppt/slideMasters/slideMaster1.xml" Id="Rca373e755b5746b4" /><Relationship Type="http://schemas.openxmlformats.org/officeDocument/2006/relationships/notesMaster" Target="/ppt/notesMasters/notesMaster1.xml" Id="Rb45c5aa8b71b4292" /><Relationship Type="http://schemas.openxmlformats.org/officeDocument/2006/relationships/presProps" Target="/ppt/presProps.xml" Id="R399beb8f182b495c" /><Relationship Type="http://schemas.openxmlformats.org/officeDocument/2006/relationships/tableStyles" Target="/ppt/tableStyles.xml" Id="Reb02ecb06f5240ac" /><Relationship Type="http://schemas.openxmlformats.org/officeDocument/2006/relationships/slide" Target="/ppt/slides/slide1.xml" Id="R51b3d9f9c2824241" /><Relationship Type="http://schemas.openxmlformats.org/officeDocument/2006/relationships/slide" Target="/ppt/slides/slide2.xml" Id="R3833c44186ba4abb" /><Relationship Type="http://schemas.openxmlformats.org/officeDocument/2006/relationships/slide" Target="/ppt/slides/slide3.xml" Id="Rab5edbd57eba4f74" /><Relationship Type="http://schemas.openxmlformats.org/officeDocument/2006/relationships/slide" Target="/ppt/slides/slide4.xml" Id="R4bfd09c1b8c24738" /><Relationship Type="http://schemas.openxmlformats.org/officeDocument/2006/relationships/slide" Target="/ppt/slides/slide5.xml" Id="Ref88f143e74a4e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62ad4a2fe242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09b2d85f374d5e" /><Relationship Type="http://schemas.openxmlformats.org/officeDocument/2006/relationships/notesMaster" Target="/ppt/notesMasters/notesMaster1.xml" Id="R1fea3c48fa1a40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98bbb33ebb4ee8" /><Relationship Type="http://schemas.openxmlformats.org/officeDocument/2006/relationships/notesMaster" Target="/ppt/notesMasters/notesMaster1.xml" Id="R5876494ace744e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e2883f4b1e4fe5" /><Relationship Type="http://schemas.openxmlformats.org/officeDocument/2006/relationships/notesMaster" Target="/ppt/notesMasters/notesMaster1.xml" Id="R1c7dde1dcee24c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f25cf53c074f03" /><Relationship Type="http://schemas.openxmlformats.org/officeDocument/2006/relationships/notesMaster" Target="/ppt/notesMasters/notesMaster1.xml" Id="Rca71934280a743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2c5ff1f45d4e41" /><Relationship Type="http://schemas.openxmlformats.org/officeDocument/2006/relationships/notesMaster" Target="/ppt/notesMasters/notesMaster1.xml" Id="R3702364b851c42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slide for the Nivesh Sangyan Hackathon presentation. Team member names are reproduced as provided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statement and approach are based on the requested project scope and current implementation. Technology names reflect the primary components used across the chatbot, fraud checker, simulator, speech and document retrieval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simulator supports normal, crash, high-volatility, fraud and leverage scenarios. It accepts virtual stocks and bonds, lump-sum or periodic unit purchases, a duration and run count, and can compare two combinations. Outputs include average, best and worst final values, percent of profitable runs, maximum loss measure and charts. All simulated values are illustrative and are not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checker accepts text and optional username, image/PDF and voice transcript evidence. It combines model-assisted extraction, deterministic risk indicators, local SEBI database lookup, and configured domain matching. It returns registration, identity, URL, risk score and summary fields. Users should verify extracted details against original evidence and official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Text responses support 22 Indic languages and English according to the project language map. The chatbot streams text and supports a stop action and optional speech. Local learning documents can be indexed and retrieved through BGE-M3 embeddings, ChromaDB and LangChain. gTTS and matching browser voices provide spoken answers only where that language is supported. The bot is scoped to general financial education.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ad5a3b356c45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28cdf8599b4566" /><Relationship Type="http://schemas.openxmlformats.org/officeDocument/2006/relationships/slideLayout" Target="/ppt/slideLayouts/slideLayout1.xml" Id="R19736f5344764f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736f5344764f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69bb30832446e6" /><Relationship Type="http://schemas.openxmlformats.org/officeDocument/2006/relationships/notesSlide" Target="/ppt/notesSlides/notesSlide1.xml" Id="R3df2e6d04f3542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94b05ec1e242b9" /><Relationship Type="http://schemas.openxmlformats.org/officeDocument/2006/relationships/notesSlide" Target="/ppt/notesSlides/notesSlide2.xml" Id="Rf1cfb4a045b046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e66f57112541fb" /><Relationship Type="http://schemas.openxmlformats.org/officeDocument/2006/relationships/notesSlide" Target="/ppt/notesSlides/notesSlide3.xml" Id="R500f1c4791bb44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25a8fd66124c4d" /><Relationship Type="http://schemas.openxmlformats.org/officeDocument/2006/relationships/notesSlide" Target="/ppt/notesSlides/notesSlide4.xml" Id="R7b3ad7fb8ee447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d74046cef0472c" /><Relationship Type="http://schemas.openxmlformats.org/officeDocument/2006/relationships/notesSlide" Target="/ppt/notesSlides/notesSlide5.xml" Id="R4702fd1b9f064721" /></Relationships>
</file>

<file path=ppt/slides/slide1.xml><?xml version="1.0" encoding="utf-8"?>
<p:sld xmlns:p="http://schemas.openxmlformats.org/presentationml/2006/main">
  <p:cSld>
    <p:bg>
      <p:bgPr>
        <a:solidFill xmlns:a="http://schemas.openxmlformats.org/drawingml/2006/main">
          <a:srgbClr val="122B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765E9B-02BB-45C4-B492-AD05B6C44F40}"/>
              </a:ext>
            </a:extLst>
          </p:cNvPr>
          <p:cNvSpPr>
            <a:spLocks xmlns:a="http://schemas.openxmlformats.org/drawingml/2006/main" noGrp="1"/>
          </p:cNvSpPr>
          <p:nvPr/>
        </p:nvSpPr>
        <p:spPr>
          <a:xfrm xmlns:a="http://schemas.openxmlformats.org/drawingml/2006/main">
            <a:off x="723900" y="52387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a:solidFill>
                  <a:srgbClr val="E6B75D"/>
                </a:solidFill>
                <a:latin typeface="Arial"/>
                <a:ea typeface="Arial"/>
                <a:cs typeface="Arial"/>
              </a:defRPr>
            </a:pPr>
            <a:r>
              <a:rPr sz="1500" b="1">
                <a:solidFill>
                  <a:srgbClr val="E6B75D"/>
                </a:solidFill>
                <a:latin typeface="Arial"/>
                <a:ea typeface="Arial"/>
                <a:cs typeface="Arial"/>
              </a:rPr>
              <a:t>SANGYAN HACKATHON</a:t>
            </a:r>
          </a:p>
        </p:txBody>
      </p:sp>
      <p:sp>
        <p:nvSpPr>
          <p:cNvPr id="2" name="">
            <a:extLst xmlns:a="http://schemas.openxmlformats.org/drawingml/2006/main">
              <a:ext uri="{FF2B5EF4-FFF2-40B4-BE49-F238E27FC236}">
                <a16:creationId xmlns:a16="http://schemas.microsoft.com/office/drawing/2014/main" id="{46E5176C-C8AB-42EC-9CA2-EECD42CE860E}"/>
              </a:ext>
            </a:extLst>
          </p:cNvPr>
          <p:cNvSpPr>
            <a:spLocks xmlns:a="http://schemas.openxmlformats.org/drawingml/2006/main" noGrp="1"/>
          </p:cNvSpPr>
          <p:nvPr/>
        </p:nvSpPr>
        <p:spPr>
          <a:xfrm xmlns:a="http://schemas.openxmlformats.org/drawingml/2006/main">
            <a:off x="685800" y="1304925"/>
            <a:ext cx="7239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90000"/>
              </a:lnSpc>
              <a:buNone/>
              <a:defRPr sz="6150" b="1">
                <a:solidFill>
                  <a:srgbClr val="FFFDF8"/>
                </a:solidFill>
                <a:latin typeface="Arial"/>
                <a:ea typeface="Arial"/>
                <a:cs typeface="Arial"/>
              </a:defRPr>
            </a:pPr>
            <a:r>
              <a:rPr sz="6150" b="1">
                <a:solidFill>
                  <a:srgbClr val="FFFDF8"/>
                </a:solidFill>
                <a:latin typeface="Arial"/>
                <a:ea typeface="Arial"/>
                <a:cs typeface="Arial"/>
              </a:rPr>
              <a:t>Nivesh</a:t>
            </a:r>
          </a:p>
        </p:txBody>
      </p:sp>
      <p:sp>
        <p:nvSpPr>
          <p:cNvPr id="3" name="">
            <a:extLst xmlns:a="http://schemas.openxmlformats.org/drawingml/2006/main">
              <a:ext uri="{FF2B5EF4-FFF2-40B4-BE49-F238E27FC236}">
                <a16:creationId xmlns:a16="http://schemas.microsoft.com/office/drawing/2014/main" id="{B2BD1626-A090-4AE7-97D1-80A733212047}"/>
              </a:ext>
            </a:extLst>
          </p:cNvPr>
          <p:cNvSpPr>
            <a:spLocks xmlns:a="http://schemas.openxmlformats.org/drawingml/2006/main" noGrp="1"/>
          </p:cNvSpPr>
          <p:nvPr/>
        </p:nvSpPr>
        <p:spPr>
          <a:xfrm xmlns:a="http://schemas.openxmlformats.org/drawingml/2006/main">
            <a:off x="742950" y="2486025"/>
            <a:ext cx="7334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325">
                <a:solidFill>
                  <a:srgbClr val="E8E0D1"/>
                </a:solidFill>
                <a:latin typeface="Arial"/>
                <a:ea typeface="Arial"/>
                <a:cs typeface="Arial"/>
              </a:defRPr>
            </a:pPr>
            <a:r>
              <a:rPr sz="2325">
                <a:solidFill>
                  <a:srgbClr val="E8E0D1"/>
                </a:solidFill>
                <a:latin typeface="Arial"/>
                <a:ea typeface="Arial"/>
                <a:cs typeface="Arial"/>
              </a:rPr>
              <a:t>Learn to invest with confidence.</a:t>
            </a:r>
          </a:p>
        </p:txBody>
      </p:sp>
      <p:sp>
        <p:nvSpPr>
          <p:cNvPr id="4" name="">
            <a:extLst xmlns:a="http://schemas.openxmlformats.org/drawingml/2006/main">
              <a:ext uri="{FF2B5EF4-FFF2-40B4-BE49-F238E27FC236}">
                <a16:creationId xmlns:a16="http://schemas.microsoft.com/office/drawing/2014/main" id="{509EB5FC-CAD8-4105-A9DD-1ABCB91F480C}"/>
              </a:ext>
            </a:extLst>
          </p:cNvPr>
          <p:cNvSpPr>
            <a:spLocks xmlns:a="http://schemas.openxmlformats.org/drawingml/2006/main" noGrp="1"/>
          </p:cNvSpPr>
          <p:nvPr/>
        </p:nvSpPr>
        <p:spPr>
          <a:xfrm xmlns:a="http://schemas.openxmlformats.org/drawingml/2006/main">
            <a:off x="762000" y="3114675"/>
            <a:ext cx="709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14000"/>
              </a:lnSpc>
              <a:buNone/>
              <a:defRPr sz="1725">
                <a:solidFill>
                  <a:srgbClr val="B8C8CA"/>
                </a:solidFill>
                <a:latin typeface="Arial"/>
                <a:ea typeface="Arial"/>
                <a:cs typeface="Arial"/>
              </a:defRPr>
            </a:pPr>
            <a:r>
              <a:rPr sz="1725">
                <a:solidFill>
                  <a:srgbClr val="B8C8CA"/>
                </a:solidFill>
                <a:latin typeface="Arial"/>
                <a:ea typeface="Arial"/>
                <a:cs typeface="Arial"/>
              </a:rPr>
              <a:t>A practical set of tools for understanding investment risk, checking suspicious offers, and learning in your language.</a:t>
            </a:r>
          </a:p>
        </p:txBody>
      </p:sp>
      <p:sp>
        <p:nvSpPr>
          <p:cNvPr id="5" name="">
            <a:extLst xmlns:a="http://schemas.openxmlformats.org/drawingml/2006/main">
              <a:ext uri="{FF2B5EF4-FFF2-40B4-BE49-F238E27FC236}">
                <a16:creationId xmlns:a16="http://schemas.microsoft.com/office/drawing/2014/main" id="{4FD3DABF-41AA-428A-A216-798B6FAA51EB}"/>
              </a:ext>
            </a:extLst>
          </p:cNvPr>
          <p:cNvSpPr>
            <a:spLocks xmlns:a="http://schemas.openxmlformats.org/drawingml/2006/main" noGrp="1"/>
          </p:cNvSpPr>
          <p:nvPr/>
        </p:nvSpPr>
        <p:spPr>
          <a:xfrm xmlns:a="http://schemas.openxmlformats.org/drawingml/2006/main">
            <a:off x="771525" y="46291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defRPr sz="1200" b="1">
                <a:solidFill>
                  <a:srgbClr val="E6B75D"/>
                </a:solidFill>
                <a:latin typeface="Arial"/>
                <a:ea typeface="Arial"/>
                <a:cs typeface="Arial"/>
              </a:defRPr>
            </a:pPr>
            <a:r>
              <a:rPr sz="1200" b="1">
                <a:solidFill>
                  <a:srgbClr val="E6B75D"/>
                </a:solidFill>
                <a:latin typeface="Arial"/>
                <a:ea typeface="Arial"/>
                <a:cs typeface="Arial"/>
              </a:rPr>
              <a:t>TEAM</a:t>
            </a:r>
          </a:p>
        </p:txBody>
      </p:sp>
      <p:sp>
        <p:nvSpPr>
          <p:cNvPr id="6" name="">
            <a:extLst xmlns:a="http://schemas.openxmlformats.org/drawingml/2006/main">
              <a:ext uri="{FF2B5EF4-FFF2-40B4-BE49-F238E27FC236}">
                <a16:creationId xmlns:a16="http://schemas.microsoft.com/office/drawing/2014/main" id="{B4660A57-DFD4-4FD4-8B1A-E824A1563B71}"/>
              </a:ext>
            </a:extLst>
          </p:cNvPr>
          <p:cNvSpPr>
            <a:spLocks xmlns:a="http://schemas.openxmlformats.org/drawingml/2006/main" noGrp="1"/>
          </p:cNvSpPr>
          <p:nvPr/>
        </p:nvSpPr>
        <p:spPr>
          <a:xfrm xmlns:a="http://schemas.openxmlformats.org/drawingml/2006/main">
            <a:off x="762000" y="4981575"/>
            <a:ext cx="5524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22000"/>
              </a:lnSpc>
              <a:buNone/>
              <a:defRPr sz="1800">
                <a:solidFill>
                  <a:srgbClr val="FFFDF8"/>
                </a:solidFill>
                <a:latin typeface="Arial"/>
                <a:ea typeface="Arial"/>
                <a:cs typeface="Arial"/>
              </a:defRPr>
            </a:pPr>
            <a:r>
              <a:rPr sz="1800">
                <a:solidFill>
                  <a:srgbClr val="FFFDF8"/>
                </a:solidFill>
                <a:latin typeface="Arial"/>
                <a:ea typeface="Arial"/>
                <a:cs typeface="Arial"/>
              </a:rPr>
              <a:t>Sai Kiran     Bala Eswar</a:t>
            </a:r>
          </a:p>
          <a:p xmlns:a="http://schemas.openxmlformats.org/drawingml/2006/main">
            <a:pPr>
              <a:lnSpc>
                <a:spcPct val="122000"/>
              </a:lnSpc>
              <a:buNone/>
              <a:defRPr sz="1800">
                <a:solidFill>
                  <a:srgbClr val="FFFDF8"/>
                </a:solidFill>
                <a:latin typeface="Arial"/>
                <a:ea typeface="Arial"/>
                <a:cs typeface="Arial"/>
              </a:defRPr>
            </a:pPr>
            <a:r>
              <a:rPr sz="1800">
                <a:solidFill>
                  <a:srgbClr val="FFFDF8"/>
                </a:solidFill>
                <a:latin typeface="Arial"/>
                <a:ea typeface="Arial"/>
                <a:cs typeface="Arial"/>
              </a:rPr>
              <a:t>Kirtan Sai     Yashwanth Royal</a:t>
            </a:r>
          </a:p>
        </p:txBody>
      </p:sp>
      <p:sp>
        <p:nvSpPr>
          <p:cNvPr id="7" name="">
            <a:extLst xmlns:a="http://schemas.openxmlformats.org/drawingml/2006/main">
              <a:ext uri="{FF2B5EF4-FFF2-40B4-BE49-F238E27FC236}">
                <a16:creationId xmlns:a16="http://schemas.microsoft.com/office/drawing/2014/main" id="{B287C441-B7D7-429A-8CF3-6613E7B9897D}"/>
              </a:ext>
            </a:extLst>
          </p:cNvPr>
          <p:cNvSpPr>
            <a:spLocks xmlns:a="http://schemas.openxmlformats.org/drawingml/2006/main" noGrp="1"/>
          </p:cNvSpPr>
          <p:nvPr/>
        </p:nvSpPr>
        <p:spPr>
          <a:xfrm xmlns:a="http://schemas.openxmlformats.org/drawingml/2006/main">
            <a:off x="762000" y="63627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defRPr sz="1125" b="1">
                <a:solidFill>
                  <a:srgbClr val="B8C8CA"/>
                </a:solidFill>
                <a:latin typeface="Arial"/>
                <a:ea typeface="Arial"/>
                <a:cs typeface="Arial"/>
              </a:defRPr>
            </a:pPr>
            <a:r>
              <a:rPr sz="1125" b="1">
                <a:solidFill>
                  <a:srgbClr val="B8C8CA"/>
                </a:solidFill>
                <a:latin typeface="Arial"/>
                <a:ea typeface="Arial"/>
                <a:cs typeface="Arial"/>
              </a:rPr>
              <a:t>FINANCIAL LEARNING  /  FRAUD AWARENESS  /  MULTILINGUAL SUPPORT</a:t>
            </a:r>
          </a:p>
        </p:txBody>
      </p:sp>
    </p:spTree>
    <p:extLst>
      <p:ext uri="{BB962C8B-B14F-4D97-AF65-F5344CB8AC3E}">
        <p14:creationId xmlns:p14="http://schemas.microsoft.com/office/powerpoint/2010/main" val="464272514"/>
      </p:ext>
    </p:extLst>
  </p:cSld>
</p:sld>
</file>

<file path=ppt/slides/slide2.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48DE805-B9C1-4C20-B467-40BBD26EEA33}"/>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C55F43"/>
                </a:solidFill>
                <a:latin typeface="Arial"/>
                <a:ea typeface="Arial"/>
                <a:cs typeface="Arial"/>
              </a:defRPr>
            </a:pPr>
            <a:r>
              <a:rPr sz="1200" b="1">
                <a:solidFill>
                  <a:srgbClr val="C55F43"/>
                </a:solidFill>
                <a:latin typeface="Arial"/>
                <a:ea typeface="Arial"/>
                <a:cs typeface="Arial"/>
              </a:rPr>
              <a:t>SANGYAN HACKATHON     /     02     PROBLEM AND APPROACH</a:t>
            </a:r>
          </a:p>
        </p:txBody>
      </p:sp>
      <p:sp>
        <p:nvSpPr>
          <p:cNvPr id="2" name="">
            <a:extLst xmlns:a="http://schemas.openxmlformats.org/drawingml/2006/main">
              <a:ext uri="{FF2B5EF4-FFF2-40B4-BE49-F238E27FC236}">
                <a16:creationId xmlns:a16="http://schemas.microsoft.com/office/drawing/2014/main" id="{CEF268D8-6773-46DD-8151-67CC3F5B3FE5}"/>
              </a:ext>
            </a:extLst>
          </p:cNvPr>
          <p:cNvSpPr>
            <a:spLocks xmlns:a="http://schemas.openxmlformats.org/drawingml/2006/main" noGrp="1"/>
          </p:cNvSpPr>
          <p:nvPr/>
        </p:nvSpPr>
        <p:spPr>
          <a:xfrm xmlns:a="http://schemas.openxmlformats.org/drawingml/2006/main">
            <a:off x="685800" y="7143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708"/>
          </a:bodyPr>
          <a:lstStyle xmlns:a="http://schemas.openxmlformats.org/drawingml/2006/main"/>
          <a:p xmlns:a="http://schemas.openxmlformats.org/drawingml/2006/main">
            <a:pPr>
              <a:defRPr sz="3600" b="1">
                <a:solidFill>
                  <a:srgbClr val="18364A"/>
                </a:solidFill>
                <a:latin typeface="Arial"/>
                <a:ea typeface="Arial"/>
                <a:cs typeface="Arial"/>
              </a:defRPr>
            </a:pPr>
            <a:r>
              <a:rPr sz="3600" b="1">
                <a:solidFill>
                  <a:srgbClr val="18364A"/>
                </a:solidFill>
                <a:latin typeface="Arial"/>
                <a:ea typeface="Arial"/>
                <a:cs typeface="Arial"/>
              </a:rPr>
              <a:t>Why Nivesh</a:t>
            </a:r>
          </a:p>
        </p:txBody>
      </p:sp>
      <p:sp>
        <p:nvSpPr>
          <p:cNvPr id="3" name="">
            <a:extLst xmlns:a="http://schemas.openxmlformats.org/drawingml/2006/main">
              <a:ext uri="{FF2B5EF4-FFF2-40B4-BE49-F238E27FC236}">
                <a16:creationId xmlns:a16="http://schemas.microsoft.com/office/drawing/2014/main" id="{5382F1C1-492D-4C96-9884-191E7F885DAD}"/>
              </a:ext>
            </a:extLst>
          </p:cNvPr>
          <p:cNvSpPr>
            <a:spLocks xmlns:a="http://schemas.openxmlformats.org/drawingml/2006/main" noGrp="1"/>
          </p:cNvSpPr>
          <p:nvPr/>
        </p:nvSpPr>
        <p:spPr>
          <a:xfrm xmlns:a="http://schemas.openxmlformats.org/drawingml/2006/main">
            <a:off x="723900" y="14001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a:solidFill>
                  <a:srgbClr val="637783"/>
                </a:solidFill>
                <a:latin typeface="Arial"/>
                <a:ea typeface="Arial"/>
                <a:cs typeface="Arial"/>
              </a:defRPr>
            </a:pPr>
            <a:r>
              <a:rPr sz="1875">
                <a:solidFill>
                  <a:srgbClr val="637783"/>
                </a:solidFill>
                <a:latin typeface="Arial"/>
                <a:ea typeface="Arial"/>
                <a:cs typeface="Arial"/>
              </a:rPr>
              <a:t>First-time investors often have to make sense of risk and trust before they feel ready to act.</a:t>
            </a:r>
          </a:p>
        </p:txBody>
      </p:sp>
      <p:sp>
        <p:nvSpPr>
          <p:cNvPr id="4" name="">
            <a:extLst xmlns:a="http://schemas.openxmlformats.org/drawingml/2006/main">
              <a:ext uri="{FF2B5EF4-FFF2-40B4-BE49-F238E27FC236}">
                <a16:creationId xmlns:a16="http://schemas.microsoft.com/office/drawing/2014/main" id="{AE062036-D935-439F-A4A2-C362093FFC39}"/>
              </a:ext>
            </a:extLst>
          </p:cNvPr>
          <p:cNvSpPr>
            <a:spLocks xmlns:a="http://schemas.openxmlformats.org/drawingml/2006/main" noGrp="1"/>
          </p:cNvSpPr>
          <p:nvPr/>
        </p:nvSpPr>
        <p:spPr>
          <a:xfrm xmlns:a="http://schemas.openxmlformats.org/drawingml/2006/main">
            <a:off x="742950" y="2266950"/>
            <a:ext cx="490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C55F43"/>
                </a:solidFill>
                <a:latin typeface="Arial"/>
                <a:ea typeface="Arial"/>
                <a:cs typeface="Arial"/>
              </a:defRPr>
            </a:pPr>
            <a:r>
              <a:rPr sz="1200" b="1">
                <a:solidFill>
                  <a:srgbClr val="C55F43"/>
                </a:solidFill>
                <a:latin typeface="Arial"/>
                <a:ea typeface="Arial"/>
                <a:cs typeface="Arial"/>
              </a:rPr>
              <a:t>THE PROBLEM</a:t>
            </a:r>
          </a:p>
        </p:txBody>
      </p:sp>
      <p:sp>
        <p:nvSpPr>
          <p:cNvPr id="5" name="">
            <a:extLst xmlns:a="http://schemas.openxmlformats.org/drawingml/2006/main">
              <a:ext uri="{FF2B5EF4-FFF2-40B4-BE49-F238E27FC236}">
                <a16:creationId xmlns:a16="http://schemas.microsoft.com/office/drawing/2014/main" id="{96BBFE6A-89F8-47FE-B182-EF6DD1BC83C1}"/>
              </a:ext>
            </a:extLst>
          </p:cNvPr>
          <p:cNvSpPr>
            <a:spLocks xmlns:a="http://schemas.openxmlformats.org/drawingml/2006/main" noGrp="1"/>
          </p:cNvSpPr>
          <p:nvPr/>
        </p:nvSpPr>
        <p:spPr>
          <a:xfrm xmlns:a="http://schemas.openxmlformats.org/drawingml/2006/main">
            <a:off x="742950" y="2647950"/>
            <a:ext cx="490537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97"/>
          </a:bodyPr>
          <a:lstStyle xmlns:a="http://schemas.openxmlformats.org/drawingml/2006/main"/>
          <a:p xmlns:a="http://schemas.openxmlformats.org/drawingml/2006/main">
            <a:pPr>
              <a:lnSpc>
                <a:spcPct val="113000"/>
              </a:lnSpc>
              <a:buNone/>
              <a:defRPr sz="1650">
                <a:solidFill>
                  <a:srgbClr val="18364A"/>
                </a:solidFill>
                <a:latin typeface="Arial"/>
                <a:ea typeface="Arial"/>
                <a:cs typeface="Arial"/>
              </a:defRPr>
            </a:pPr>
            <a:r>
              <a:rPr sz="1650">
                <a:solidFill>
                  <a:srgbClr val="18364A"/>
                </a:solidFill>
                <a:latin typeface="Arial"/>
                <a:ea typeface="Arial"/>
                <a:cs typeface="Arial"/>
              </a:rPr>
              <a:t>Market risk can feel abstract until money is already at stake. Fraud messages may copy real company names or registration details, while their links and promises are harder for a beginner to assess. Financial information is also less useful when people cannot access it in a language they understand.</a:t>
            </a:r>
          </a:p>
        </p:txBody>
      </p:sp>
      <p:sp>
        <p:nvSpPr>
          <p:cNvPr id="6" name="">
            <a:extLst xmlns:a="http://schemas.openxmlformats.org/drawingml/2006/main">
              <a:ext uri="{FF2B5EF4-FFF2-40B4-BE49-F238E27FC236}">
                <a16:creationId xmlns:a16="http://schemas.microsoft.com/office/drawing/2014/main" id="{5A632D23-170D-499D-9D89-B817C79A9395}"/>
              </a:ext>
            </a:extLst>
          </p:cNvPr>
          <p:cNvSpPr>
            <a:spLocks xmlns:a="http://schemas.openxmlformats.org/drawingml/2006/main" noGrp="1"/>
          </p:cNvSpPr>
          <p:nvPr/>
        </p:nvSpPr>
        <p:spPr>
          <a:xfrm xmlns:a="http://schemas.openxmlformats.org/drawingml/2006/main">
            <a:off x="742950" y="4924425"/>
            <a:ext cx="490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OUR APPROACH</a:t>
            </a:r>
          </a:p>
        </p:txBody>
      </p:sp>
      <p:sp>
        <p:nvSpPr>
          <p:cNvPr id="7" name="">
            <a:extLst xmlns:a="http://schemas.openxmlformats.org/drawingml/2006/main">
              <a:ext uri="{FF2B5EF4-FFF2-40B4-BE49-F238E27FC236}">
                <a16:creationId xmlns:a16="http://schemas.microsoft.com/office/drawing/2014/main" id="{9C6A6408-834E-40E0-B54A-19CB77821EBD}"/>
              </a:ext>
            </a:extLst>
          </p:cNvPr>
          <p:cNvSpPr>
            <a:spLocks xmlns:a="http://schemas.openxmlformats.org/drawingml/2006/main" noGrp="1"/>
          </p:cNvSpPr>
          <p:nvPr/>
        </p:nvSpPr>
        <p:spPr>
          <a:xfrm xmlns:a="http://schemas.openxmlformats.org/drawingml/2006/main">
            <a:off x="742950" y="5257800"/>
            <a:ext cx="4905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66"/>
          </a:bodyPr>
          <a:lstStyle xmlns:a="http://schemas.openxmlformats.org/drawingml/2006/main"/>
          <a:p xmlns:a="http://schemas.openxmlformats.org/drawingml/2006/main">
            <a:pPr>
              <a:lnSpc>
                <a:spcPct val="110000"/>
              </a:lnSpc>
              <a:buNone/>
              <a:defRPr sz="1650" b="1">
                <a:solidFill>
                  <a:srgbClr val="18364A"/>
                </a:solidFill>
                <a:latin typeface="Arial"/>
                <a:ea typeface="Arial"/>
                <a:cs typeface="Arial"/>
              </a:defRPr>
            </a:pPr>
            <a:r>
              <a:rPr sz="1650" b="1">
                <a:solidFill>
                  <a:srgbClr val="18364A"/>
                </a:solidFill>
                <a:latin typeface="Arial"/>
                <a:ea typeface="Arial"/>
                <a:cs typeface="Arial"/>
              </a:rPr>
              <a:t>Nivesh brings together safe investing practice, evidence-based scam screening, and a multilingual financial learning assistant in one place.</a:t>
            </a:r>
          </a:p>
        </p:txBody>
      </p:sp>
      <p:sp>
        <p:nvSpPr>
          <p:cNvPr id="8" name="">
            <a:extLst xmlns:a="http://schemas.openxmlformats.org/drawingml/2006/main">
              <a:ext uri="{FF2B5EF4-FFF2-40B4-BE49-F238E27FC236}">
                <a16:creationId xmlns:a16="http://schemas.microsoft.com/office/drawing/2014/main" id="{0A6D31B0-F9F9-4F85-88C7-58159219515E}"/>
              </a:ext>
            </a:extLst>
          </p:cNvPr>
          <p:cNvSpPr>
            <a:spLocks xmlns:a="http://schemas.openxmlformats.org/drawingml/2006/main" noGrp="1"/>
          </p:cNvSpPr>
          <p:nvPr/>
        </p:nvSpPr>
        <p:spPr>
          <a:xfrm xmlns:a="http://schemas.openxmlformats.org/drawingml/2006/main">
            <a:off x="6353175" y="2266950"/>
            <a:ext cx="5095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C55F43"/>
                </a:solidFill>
                <a:latin typeface="Arial"/>
                <a:ea typeface="Arial"/>
                <a:cs typeface="Arial"/>
              </a:defRPr>
            </a:pPr>
            <a:r>
              <a:rPr sz="1200" b="1">
                <a:solidFill>
                  <a:srgbClr val="C55F43"/>
                </a:solidFill>
                <a:latin typeface="Arial"/>
                <a:ea typeface="Arial"/>
                <a:cs typeface="Arial"/>
              </a:rPr>
              <a:t>KEY TECHNOLOGIES</a:t>
            </a:r>
          </a:p>
        </p:txBody>
      </p:sp>
      <p:sp>
        <p:nvSpPr>
          <p:cNvPr id="9" name="">
            <a:extLst xmlns:a="http://schemas.openxmlformats.org/drawingml/2006/main">
              <a:ext uri="{FF2B5EF4-FFF2-40B4-BE49-F238E27FC236}">
                <a16:creationId xmlns:a16="http://schemas.microsoft.com/office/drawing/2014/main" id="{9CE4AC65-2091-4462-ABFA-1347EB6CB9A0}"/>
              </a:ext>
            </a:extLst>
          </p:cNvPr>
          <p:cNvSpPr>
            <a:spLocks xmlns:a="http://schemas.openxmlformats.org/drawingml/2006/main" noGrp="1"/>
          </p:cNvSpPr>
          <p:nvPr/>
        </p:nvSpPr>
        <p:spPr>
          <a:xfrm xmlns:a="http://schemas.openxmlformats.org/drawingml/2006/main">
            <a:off x="6353175" y="26479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defRPr sz="1500" b="1">
                <a:solidFill>
                  <a:srgbClr val="18364A"/>
                </a:solidFill>
                <a:latin typeface="Arial"/>
                <a:ea typeface="Arial"/>
                <a:cs typeface="Arial"/>
              </a:defRPr>
            </a:pPr>
            <a:r>
              <a:rPr sz="1500" b="1">
                <a:solidFill>
                  <a:srgbClr val="18364A"/>
                </a:solidFill>
                <a:latin typeface="Arial"/>
                <a:ea typeface="Arial"/>
                <a:cs typeface="Arial"/>
              </a:rPr>
              <a:t>AI models</a:t>
            </a:r>
          </a:p>
        </p:txBody>
      </p:sp>
      <p:sp>
        <p:nvSpPr>
          <p:cNvPr id="10" name="">
            <a:extLst xmlns:a="http://schemas.openxmlformats.org/drawingml/2006/main">
              <a:ext uri="{FF2B5EF4-FFF2-40B4-BE49-F238E27FC236}">
                <a16:creationId xmlns:a16="http://schemas.microsoft.com/office/drawing/2014/main" id="{C76EC4B3-228B-4504-AB3C-86B10384E534}"/>
              </a:ext>
            </a:extLst>
          </p:cNvPr>
          <p:cNvSpPr>
            <a:spLocks xmlns:a="http://schemas.openxmlformats.org/drawingml/2006/main" noGrp="1"/>
          </p:cNvSpPr>
          <p:nvPr/>
        </p:nvSpPr>
        <p:spPr>
          <a:xfrm xmlns:a="http://schemas.openxmlformats.org/drawingml/2006/main">
            <a:off x="7972425" y="26479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62"/>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Qwen3:8B for chat; Qwen3-VL:8B for image and document review, through Ollama.</a:t>
            </a:r>
          </a:p>
        </p:txBody>
      </p:sp>
      <p:sp>
        <p:nvSpPr>
          <p:cNvPr id="11" name="">
            <a:extLst xmlns:a="http://schemas.openxmlformats.org/drawingml/2006/main">
              <a:ext uri="{FF2B5EF4-FFF2-40B4-BE49-F238E27FC236}">
                <a16:creationId xmlns:a16="http://schemas.microsoft.com/office/drawing/2014/main" id="{021D59FA-F58C-45F3-A05D-6C9B1F620082}"/>
              </a:ext>
            </a:extLst>
          </p:cNvPr>
          <p:cNvSpPr>
            <a:spLocks xmlns:a="http://schemas.openxmlformats.org/drawingml/2006/main" noGrp="1"/>
          </p:cNvSpPr>
          <p:nvPr/>
        </p:nvSpPr>
        <p:spPr>
          <a:xfrm xmlns:a="http://schemas.openxmlformats.org/drawingml/2006/main">
            <a:off x="6353175" y="34480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defRPr sz="1500" b="1">
                <a:solidFill>
                  <a:srgbClr val="18364A"/>
                </a:solidFill>
                <a:latin typeface="Arial"/>
                <a:ea typeface="Arial"/>
                <a:cs typeface="Arial"/>
              </a:defRPr>
            </a:pPr>
            <a:r>
              <a:rPr sz="1500" b="1">
                <a:solidFill>
                  <a:srgbClr val="18364A"/>
                </a:solidFill>
                <a:latin typeface="Arial"/>
                <a:ea typeface="Arial"/>
                <a:cs typeface="Arial"/>
              </a:rPr>
              <a:t>Voice</a:t>
            </a:r>
          </a:p>
        </p:txBody>
      </p:sp>
      <p:sp>
        <p:nvSpPr>
          <p:cNvPr id="12" name="">
            <a:extLst xmlns:a="http://schemas.openxmlformats.org/drawingml/2006/main">
              <a:ext uri="{FF2B5EF4-FFF2-40B4-BE49-F238E27FC236}">
                <a16:creationId xmlns:a16="http://schemas.microsoft.com/office/drawing/2014/main" id="{49677351-3475-4AC7-B144-3523FC92E3EB}"/>
              </a:ext>
            </a:extLst>
          </p:cNvPr>
          <p:cNvSpPr>
            <a:spLocks xmlns:a="http://schemas.openxmlformats.org/drawingml/2006/main" noGrp="1"/>
          </p:cNvSpPr>
          <p:nvPr/>
        </p:nvSpPr>
        <p:spPr>
          <a:xfrm xmlns:a="http://schemas.openxmlformats.org/drawingml/2006/main">
            <a:off x="7972425" y="34480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004"/>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AI4Bharat speech recognition with Sherpa-ONNX; optional spoken replies with gTTS.</a:t>
            </a:r>
          </a:p>
        </p:txBody>
      </p:sp>
      <p:sp>
        <p:nvSpPr>
          <p:cNvPr id="13" name="">
            <a:extLst xmlns:a="http://schemas.openxmlformats.org/drawingml/2006/main">
              <a:ext uri="{FF2B5EF4-FFF2-40B4-BE49-F238E27FC236}">
                <a16:creationId xmlns:a16="http://schemas.microsoft.com/office/drawing/2014/main" id="{DB746ACA-F478-4B3A-A8D8-6588092CF387}"/>
              </a:ext>
            </a:extLst>
          </p:cNvPr>
          <p:cNvSpPr>
            <a:spLocks xmlns:a="http://schemas.openxmlformats.org/drawingml/2006/main" noGrp="1"/>
          </p:cNvSpPr>
          <p:nvPr/>
        </p:nvSpPr>
        <p:spPr>
          <a:xfrm xmlns:a="http://schemas.openxmlformats.org/drawingml/2006/main">
            <a:off x="6353175" y="42481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defRPr sz="1500" b="1">
                <a:solidFill>
                  <a:srgbClr val="18364A"/>
                </a:solidFill>
                <a:latin typeface="Arial"/>
                <a:ea typeface="Arial"/>
                <a:cs typeface="Arial"/>
              </a:defRPr>
            </a:pPr>
            <a:r>
              <a:rPr sz="1500" b="1">
                <a:solidFill>
                  <a:srgbClr val="18364A"/>
                </a:solidFill>
                <a:latin typeface="Arial"/>
                <a:ea typeface="Arial"/>
                <a:cs typeface="Arial"/>
              </a:rPr>
              <a:t>Learning documents</a:t>
            </a:r>
          </a:p>
        </p:txBody>
      </p:sp>
      <p:sp>
        <p:nvSpPr>
          <p:cNvPr id="14" name="">
            <a:extLst xmlns:a="http://schemas.openxmlformats.org/drawingml/2006/main">
              <a:ext uri="{FF2B5EF4-FFF2-40B4-BE49-F238E27FC236}">
                <a16:creationId xmlns:a16="http://schemas.microsoft.com/office/drawing/2014/main" id="{13D953AF-4B78-4E18-ACC6-0B38679661B3}"/>
              </a:ext>
            </a:extLst>
          </p:cNvPr>
          <p:cNvSpPr>
            <a:spLocks xmlns:a="http://schemas.openxmlformats.org/drawingml/2006/main" noGrp="1"/>
          </p:cNvSpPr>
          <p:nvPr/>
        </p:nvSpPr>
        <p:spPr>
          <a:xfrm xmlns:a="http://schemas.openxmlformats.org/drawingml/2006/main">
            <a:off x="7972425" y="42481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BGE-M3 embeddings, ChromaDB search, and LangChain retrieval.</a:t>
            </a:r>
          </a:p>
        </p:txBody>
      </p:sp>
      <p:sp>
        <p:nvSpPr>
          <p:cNvPr id="15" name="">
            <a:extLst xmlns:a="http://schemas.openxmlformats.org/drawingml/2006/main">
              <a:ext uri="{FF2B5EF4-FFF2-40B4-BE49-F238E27FC236}">
                <a16:creationId xmlns:a16="http://schemas.microsoft.com/office/drawing/2014/main" id="{0D2773A1-84DC-4A1B-8A29-112E95A71975}"/>
              </a:ext>
            </a:extLst>
          </p:cNvPr>
          <p:cNvSpPr>
            <a:spLocks xmlns:a="http://schemas.openxmlformats.org/drawingml/2006/main" noGrp="1"/>
          </p:cNvSpPr>
          <p:nvPr/>
        </p:nvSpPr>
        <p:spPr>
          <a:xfrm xmlns:a="http://schemas.openxmlformats.org/drawingml/2006/main">
            <a:off x="6353175" y="50482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defRPr sz="1500" b="1">
                <a:solidFill>
                  <a:srgbClr val="18364A"/>
                </a:solidFill>
                <a:latin typeface="Arial"/>
                <a:ea typeface="Arial"/>
                <a:cs typeface="Arial"/>
              </a:defRPr>
            </a:pPr>
            <a:r>
              <a:rPr sz="1500" b="1">
                <a:solidFill>
                  <a:srgbClr val="18364A"/>
                </a:solidFill>
                <a:latin typeface="Arial"/>
                <a:ea typeface="Arial"/>
                <a:cs typeface="Arial"/>
              </a:rPr>
              <a:t>Web and records</a:t>
            </a:r>
          </a:p>
        </p:txBody>
      </p:sp>
      <p:sp>
        <p:nvSpPr>
          <p:cNvPr id="16" name="">
            <a:extLst xmlns:a="http://schemas.openxmlformats.org/drawingml/2006/main">
              <a:ext uri="{FF2B5EF4-FFF2-40B4-BE49-F238E27FC236}">
                <a16:creationId xmlns:a16="http://schemas.microsoft.com/office/drawing/2014/main" id="{4D62ED28-1F4C-4BAA-A337-293B5B74AAA5}"/>
              </a:ext>
            </a:extLst>
          </p:cNvPr>
          <p:cNvSpPr>
            <a:spLocks xmlns:a="http://schemas.openxmlformats.org/drawingml/2006/main" noGrp="1"/>
          </p:cNvSpPr>
          <p:nvPr/>
        </p:nvSpPr>
        <p:spPr>
          <a:xfrm xmlns:a="http://schemas.openxmlformats.org/drawingml/2006/main">
            <a:off x="7972425" y="50482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004"/>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Python FastAPI services, HTML/CSS/JavaScript pages, SQLite SEBI records, and ApexCharts.</a:t>
            </a:r>
          </a:p>
        </p:txBody>
      </p:sp>
      <p:sp>
        <p:nvSpPr>
          <p:cNvPr id="17" name="">
            <a:extLst xmlns:a="http://schemas.openxmlformats.org/drawingml/2006/main">
              <a:ext uri="{FF2B5EF4-FFF2-40B4-BE49-F238E27FC236}">
                <a16:creationId xmlns:a16="http://schemas.microsoft.com/office/drawing/2014/main" id="{B7A97B11-B156-4015-8F6A-B80EFD234917}"/>
              </a:ext>
            </a:extLst>
          </p:cNvPr>
          <p:cNvSpPr>
            <a:spLocks xmlns:a="http://schemas.openxmlformats.org/drawingml/2006/main" noGrp="1"/>
          </p:cNvSpPr>
          <p:nvPr/>
        </p:nvSpPr>
        <p:spPr>
          <a:xfrm xmlns:a="http://schemas.openxmlformats.org/drawingml/2006/main">
            <a:off x="6353175" y="601980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502"/>
          </a:bodyPr>
          <a:lstStyle xmlns:a="http://schemas.openxmlformats.org/drawingml/2006/main"/>
          <a:p xmlns:a="http://schemas.openxmlformats.org/drawingml/2006/main">
            <a:pPr>
              <a:lnSpc>
                <a:spcPct val="103000"/>
              </a:lnSpc>
              <a:buNone/>
              <a:defRPr sz="1200">
                <a:solidFill>
                  <a:srgbClr val="637783"/>
                </a:solidFill>
                <a:latin typeface="Arial"/>
                <a:ea typeface="Arial"/>
                <a:cs typeface="Arial"/>
              </a:defRPr>
            </a:pPr>
            <a:r>
              <a:rPr sz="1200">
                <a:solidFill>
                  <a:srgbClr val="637783"/>
                </a:solidFill>
                <a:latin typeface="Arial"/>
                <a:ea typeface="Arial"/>
                <a:cs typeface="Arial"/>
              </a:rPr>
              <a:t>Nivesh is an educational project. Its simulations and automated checks do not replace professional or official advice.</a:t>
            </a:r>
          </a:p>
        </p:txBody>
      </p:sp>
    </p:spTree>
    <p:extLst>
      <p:ext uri="{BB962C8B-B14F-4D97-AF65-F5344CB8AC3E}">
        <p14:creationId xmlns:p14="http://schemas.microsoft.com/office/powerpoint/2010/main" val="1331240763"/>
      </p:ext>
    </p:extLst>
  </p:cSld>
</p:sld>
</file>

<file path=ppt/slides/slide3.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B8E6519-3828-41DD-A608-125A7EB5B53A}"/>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C55F43"/>
                </a:solidFill>
                <a:latin typeface="Arial"/>
                <a:ea typeface="Arial"/>
                <a:cs typeface="Arial"/>
              </a:defRPr>
            </a:pPr>
            <a:r>
              <a:rPr sz="1200" b="1">
                <a:solidFill>
                  <a:srgbClr val="C55F43"/>
                </a:solidFill>
                <a:latin typeface="Arial"/>
                <a:ea typeface="Arial"/>
                <a:cs typeface="Arial"/>
              </a:rPr>
              <a:t>SANGYAN HACKATHON     /     03     NIVESH</a:t>
            </a:r>
          </a:p>
        </p:txBody>
      </p:sp>
      <p:sp>
        <p:nvSpPr>
          <p:cNvPr id="2" name="">
            <a:extLst xmlns:a="http://schemas.openxmlformats.org/drawingml/2006/main">
              <a:ext uri="{FF2B5EF4-FFF2-40B4-BE49-F238E27FC236}">
                <a16:creationId xmlns:a16="http://schemas.microsoft.com/office/drawing/2014/main" id="{AFF5A25D-7F9B-4B58-A982-BEDD617F6F35}"/>
              </a:ext>
            </a:extLst>
          </p:cNvPr>
          <p:cNvSpPr>
            <a:spLocks xmlns:a="http://schemas.openxmlformats.org/drawingml/2006/main" noGrp="1"/>
          </p:cNvSpPr>
          <p:nvPr/>
        </p:nvSpPr>
        <p:spPr>
          <a:xfrm xmlns:a="http://schemas.openxmlformats.org/drawingml/2006/main">
            <a:off x="685800" y="71437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96000"/>
              </a:lnSpc>
              <a:buNone/>
              <a:defRPr sz="3450" b="1">
                <a:solidFill>
                  <a:srgbClr val="18364A"/>
                </a:solidFill>
                <a:latin typeface="Arial"/>
                <a:ea typeface="Arial"/>
                <a:cs typeface="Arial"/>
              </a:defRPr>
            </a:pPr>
            <a:r>
              <a:rPr sz="3450" b="1">
                <a:solidFill>
                  <a:srgbClr val="18364A"/>
                </a:solidFill>
                <a:latin typeface="Arial"/>
                <a:ea typeface="Arial"/>
                <a:cs typeface="Arial"/>
              </a:rPr>
              <a:t>Consequence Simulator</a:t>
            </a:r>
          </a:p>
        </p:txBody>
      </p:sp>
      <p:sp>
        <p:nvSpPr>
          <p:cNvPr id="3" name="">
            <a:extLst xmlns:a="http://schemas.openxmlformats.org/drawingml/2006/main">
              <a:ext uri="{FF2B5EF4-FFF2-40B4-BE49-F238E27FC236}">
                <a16:creationId xmlns:a16="http://schemas.microsoft.com/office/drawing/2014/main" id="{DC8014E3-4259-4AB4-8D35-4E5D53BC2845}"/>
              </a:ext>
            </a:extLst>
          </p:cNvPr>
          <p:cNvSpPr>
            <a:spLocks xmlns:a="http://schemas.openxmlformats.org/drawingml/2006/main" noGrp="1"/>
          </p:cNvSpPr>
          <p:nvPr/>
        </p:nvSpPr>
        <p:spPr>
          <a:xfrm xmlns:a="http://schemas.openxmlformats.org/drawingml/2006/main">
            <a:off x="72390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919"/>
          </a:bodyPr>
          <a:lstStyle xmlns:a="http://schemas.openxmlformats.org/drawingml/2006/main"/>
          <a:p xmlns:a="http://schemas.openxmlformats.org/drawingml/2006/main">
            <a:pPr>
              <a:lnSpc>
                <a:spcPct val="108000"/>
              </a:lnSpc>
              <a:buNone/>
              <a:defRPr sz="1800">
                <a:solidFill>
                  <a:srgbClr val="637783"/>
                </a:solidFill>
                <a:latin typeface="Arial"/>
                <a:ea typeface="Arial"/>
                <a:cs typeface="Arial"/>
              </a:defRPr>
            </a:pPr>
            <a:r>
              <a:rPr sz="1800">
                <a:solidFill>
                  <a:srgbClr val="637783"/>
                </a:solidFill>
                <a:latin typeface="Arial"/>
                <a:ea typeface="Arial"/>
                <a:cs typeface="Arial"/>
              </a:rPr>
              <a:t>A learner can try an investment plan on screen and see how a range of market paths could change its value.</a:t>
            </a:r>
          </a:p>
        </p:txBody>
      </p:sp>
      <p:sp>
        <p:nvSpPr>
          <p:cNvPr id="4" name="">
            <a:extLst xmlns:a="http://schemas.openxmlformats.org/drawingml/2006/main">
              <a:ext uri="{FF2B5EF4-FFF2-40B4-BE49-F238E27FC236}">
                <a16:creationId xmlns:a16="http://schemas.microsoft.com/office/drawing/2014/main" id="{7A1CDD6F-E7DE-4E3C-8B37-B854C6ADE696}"/>
              </a:ext>
            </a:extLst>
          </p:cNvPr>
          <p:cNvSpPr>
            <a:spLocks xmlns:a="http://schemas.openxmlformats.org/drawingml/2006/main" noGrp="1"/>
          </p:cNvSpPr>
          <p:nvPr/>
        </p:nvSpPr>
        <p:spPr>
          <a:xfrm xmlns:a="http://schemas.openxmlformats.org/drawingml/2006/main">
            <a:off x="742950" y="2343150"/>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HOW A USER MOVES THROUGH IT</a:t>
            </a:r>
          </a:p>
        </p:txBody>
      </p:sp>
      <p:sp>
        <p:nvSpPr>
          <p:cNvPr id="5" name="">
            <a:extLst xmlns:a="http://schemas.openxmlformats.org/drawingml/2006/main">
              <a:ext uri="{FF2B5EF4-FFF2-40B4-BE49-F238E27FC236}">
                <a16:creationId xmlns:a16="http://schemas.microsoft.com/office/drawing/2014/main" id="{FB9902E5-D3A6-406C-AD15-369F6CE91B32}"/>
              </a:ext>
            </a:extLst>
          </p:cNvPr>
          <p:cNvSpPr>
            <a:spLocks xmlns:a="http://schemas.openxmlformats.org/drawingml/2006/main" noGrp="1"/>
          </p:cNvSpPr>
          <p:nvPr/>
        </p:nvSpPr>
        <p:spPr>
          <a:xfrm xmlns:a="http://schemas.openxmlformats.org/drawingml/2006/main">
            <a:off x="742950" y="277177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73F5377-D121-450B-B754-106193511312}"/>
              </a:ext>
            </a:extLst>
          </p:cNvPr>
          <p:cNvSpPr>
            <a:spLocks xmlns:a="http://schemas.openxmlformats.org/drawingml/2006/main" noGrp="1"/>
          </p:cNvSpPr>
          <p:nvPr/>
        </p:nvSpPr>
        <p:spPr>
          <a:xfrm xmlns:a="http://schemas.openxmlformats.org/drawingml/2006/main">
            <a:off x="1362075" y="27717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Pick a market situation</a:t>
            </a:r>
          </a:p>
        </p:txBody>
      </p:sp>
      <p:sp>
        <p:nvSpPr>
          <p:cNvPr id="7" name="">
            <a:extLst xmlns:a="http://schemas.openxmlformats.org/drawingml/2006/main">
              <a:ext uri="{FF2B5EF4-FFF2-40B4-BE49-F238E27FC236}">
                <a16:creationId xmlns:a16="http://schemas.microsoft.com/office/drawing/2014/main" id="{DD7DE529-2A20-4277-B060-EFE2BCD26A47}"/>
              </a:ext>
            </a:extLst>
          </p:cNvPr>
          <p:cNvSpPr>
            <a:spLocks xmlns:a="http://schemas.openxmlformats.org/drawingml/2006/main" noGrp="1"/>
          </p:cNvSpPr>
          <p:nvPr/>
        </p:nvSpPr>
        <p:spPr>
          <a:xfrm xmlns:a="http://schemas.openxmlformats.org/drawingml/2006/main">
            <a:off x="1362075" y="31051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Choose normal conditions, a crash, high volatility, a fraud collapse, or 2× leverage.</a:t>
            </a:r>
          </a:p>
        </p:txBody>
      </p:sp>
      <p:sp>
        <p:nvSpPr>
          <p:cNvPr id="8" name="">
            <a:extLst xmlns:a="http://schemas.openxmlformats.org/drawingml/2006/main">
              <a:ext uri="{FF2B5EF4-FFF2-40B4-BE49-F238E27FC236}">
                <a16:creationId xmlns:a16="http://schemas.microsoft.com/office/drawing/2014/main" id="{374F729E-3EF7-49D9-9F14-AE0D01CBABB7}"/>
              </a:ext>
            </a:extLst>
          </p:cNvPr>
          <p:cNvSpPr>
            <a:spLocks xmlns:a="http://schemas.openxmlformats.org/drawingml/2006/main" noGrp="1"/>
          </p:cNvSpPr>
          <p:nvPr/>
        </p:nvSpPr>
        <p:spPr>
          <a:xfrm xmlns:a="http://schemas.openxmlformats.org/drawingml/2006/main">
            <a:off x="742950" y="37338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6956E71-FB67-4CEA-A400-D60B27264A70}"/>
              </a:ext>
            </a:extLst>
          </p:cNvPr>
          <p:cNvSpPr>
            <a:spLocks xmlns:a="http://schemas.openxmlformats.org/drawingml/2006/main" noGrp="1"/>
          </p:cNvSpPr>
          <p:nvPr/>
        </p:nvSpPr>
        <p:spPr>
          <a:xfrm xmlns:a="http://schemas.openxmlformats.org/drawingml/2006/main">
            <a:off x="1362075" y="37338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Set up a virtual portfolio</a:t>
            </a:r>
          </a:p>
        </p:txBody>
      </p:sp>
      <p:sp>
        <p:nvSpPr>
          <p:cNvPr id="10" name="">
            <a:extLst xmlns:a="http://schemas.openxmlformats.org/drawingml/2006/main">
              <a:ext uri="{FF2B5EF4-FFF2-40B4-BE49-F238E27FC236}">
                <a16:creationId xmlns:a16="http://schemas.microsoft.com/office/drawing/2014/main" id="{AC7B8859-EDF1-4C1E-A3C5-38D83637B0F5}"/>
              </a:ext>
            </a:extLst>
          </p:cNvPr>
          <p:cNvSpPr>
            <a:spLocks xmlns:a="http://schemas.openxmlformats.org/drawingml/2006/main" noGrp="1"/>
          </p:cNvSpPr>
          <p:nvPr/>
        </p:nvSpPr>
        <p:spPr>
          <a:xfrm xmlns:a="http://schemas.openxmlformats.org/drawingml/2006/main">
            <a:off x="1362075" y="40671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Add stocks or bonds, choose a lump sum or monthly units, and set the time period and number of runs.</a:t>
            </a:r>
          </a:p>
        </p:txBody>
      </p:sp>
      <p:sp>
        <p:nvSpPr>
          <p:cNvPr id="11" name="">
            <a:extLst xmlns:a="http://schemas.openxmlformats.org/drawingml/2006/main">
              <a:ext uri="{FF2B5EF4-FFF2-40B4-BE49-F238E27FC236}">
                <a16:creationId xmlns:a16="http://schemas.microsoft.com/office/drawing/2014/main" id="{4FDD0BCF-E967-4090-8C4E-8266BDF18C96}"/>
              </a:ext>
            </a:extLst>
          </p:cNvPr>
          <p:cNvSpPr>
            <a:spLocks xmlns:a="http://schemas.openxmlformats.org/drawingml/2006/main" noGrp="1"/>
          </p:cNvSpPr>
          <p:nvPr/>
        </p:nvSpPr>
        <p:spPr>
          <a:xfrm xmlns:a="http://schemas.openxmlformats.org/drawingml/2006/main">
            <a:off x="742950" y="469582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97B4B76B-646F-49F0-BA93-5DD4A3609B78}"/>
              </a:ext>
            </a:extLst>
          </p:cNvPr>
          <p:cNvSpPr>
            <a:spLocks xmlns:a="http://schemas.openxmlformats.org/drawingml/2006/main" noGrp="1"/>
          </p:cNvSpPr>
          <p:nvPr/>
        </p:nvSpPr>
        <p:spPr>
          <a:xfrm xmlns:a="http://schemas.openxmlformats.org/drawingml/2006/main">
            <a:off x="1362075" y="469582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Compare the outcomes</a:t>
            </a:r>
          </a:p>
        </p:txBody>
      </p:sp>
      <p:sp>
        <p:nvSpPr>
          <p:cNvPr id="13" name="">
            <a:extLst xmlns:a="http://schemas.openxmlformats.org/drawingml/2006/main">
              <a:ext uri="{FF2B5EF4-FFF2-40B4-BE49-F238E27FC236}">
                <a16:creationId xmlns:a16="http://schemas.microsoft.com/office/drawing/2014/main" id="{CD296C8A-FE07-4170-95EC-0B3D521430F0}"/>
              </a:ext>
            </a:extLst>
          </p:cNvPr>
          <p:cNvSpPr>
            <a:spLocks xmlns:a="http://schemas.openxmlformats.org/drawingml/2006/main" noGrp="1"/>
          </p:cNvSpPr>
          <p:nvPr/>
        </p:nvSpPr>
        <p:spPr>
          <a:xfrm xmlns:a="http://schemas.openxmlformats.org/drawingml/2006/main">
            <a:off x="1362075" y="50292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Review average, best and worst values, profitable runs, possible losses, and charts.</a:t>
            </a:r>
          </a:p>
        </p:txBody>
      </p:sp>
      <p:sp>
        <p:nvSpPr>
          <p:cNvPr id="14" name="">
            <a:extLst xmlns:a="http://schemas.openxmlformats.org/drawingml/2006/main">
              <a:ext uri="{FF2B5EF4-FFF2-40B4-BE49-F238E27FC236}">
                <a16:creationId xmlns:a16="http://schemas.microsoft.com/office/drawing/2014/main" id="{1466C095-FC50-43D2-B2DE-64F8FE197F2E}"/>
              </a:ext>
            </a:extLst>
          </p:cNvPr>
          <p:cNvSpPr>
            <a:spLocks xmlns:a="http://schemas.openxmlformats.org/drawingml/2006/main" noGrp="1"/>
          </p:cNvSpPr>
          <p:nvPr/>
        </p:nvSpPr>
        <p:spPr>
          <a:xfrm xmlns:a="http://schemas.openxmlformats.org/drawingml/2006/main">
            <a:off x="7162800" y="23431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WHAT HAPPENS BEHIND THE SCENES</a:t>
            </a:r>
          </a:p>
        </p:txBody>
      </p:sp>
      <p:sp>
        <p:nvSpPr>
          <p:cNvPr id="15" name="">
            <a:extLst xmlns:a="http://schemas.openxmlformats.org/drawingml/2006/main">
              <a:ext uri="{FF2B5EF4-FFF2-40B4-BE49-F238E27FC236}">
                <a16:creationId xmlns:a16="http://schemas.microsoft.com/office/drawing/2014/main" id="{48B27BA2-5BEB-4F71-907F-1D67223F63F6}"/>
              </a:ext>
            </a:extLst>
          </p:cNvPr>
          <p:cNvSpPr>
            <a:spLocks xmlns:a="http://schemas.openxmlformats.org/drawingml/2006/main" noGrp="1"/>
          </p:cNvSpPr>
          <p:nvPr/>
        </p:nvSpPr>
        <p:spPr>
          <a:xfrm xmlns:a="http://schemas.openxmlformats.org/drawingml/2006/main">
            <a:off x="7162800" y="2771775"/>
            <a:ext cx="42862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10000"/>
              </a:lnSpc>
              <a:buNone/>
              <a:defRPr sz="1575">
                <a:solidFill>
                  <a:srgbClr val="18364A"/>
                </a:solidFill>
                <a:latin typeface="Arial"/>
                <a:ea typeface="Arial"/>
                <a:cs typeface="Arial"/>
              </a:defRPr>
            </a:pPr>
            <a:r>
              <a:rPr sz="1575">
                <a:solidFill>
                  <a:srgbClr val="18364A"/>
                </a:solidFill>
                <a:latin typeface="Arial"/>
                <a:ea typeface="Arial"/>
                <a:cs typeface="Arial"/>
              </a:rPr>
              <a:t>The simulator changes virtual prices day by day using random market movement and illustrative return and volatility assumptions. It repeats the same setup across multiple runs, so users see a range of outcomes. The fraud scenario models a sharp collapse; leverage magnifies price changes.</a:t>
            </a:r>
          </a:p>
        </p:txBody>
      </p:sp>
      <p:sp>
        <p:nvSpPr>
          <p:cNvPr id="16" name="">
            <a:extLst xmlns:a="http://schemas.openxmlformats.org/drawingml/2006/main">
              <a:ext uri="{FF2B5EF4-FFF2-40B4-BE49-F238E27FC236}">
                <a16:creationId xmlns:a16="http://schemas.microsoft.com/office/drawing/2014/main" id="{1EEFE337-A16A-4E53-AEA8-EAF436E43462}"/>
              </a:ext>
            </a:extLst>
          </p:cNvPr>
          <p:cNvSpPr>
            <a:spLocks xmlns:a="http://schemas.openxmlformats.org/drawingml/2006/main" noGrp="1"/>
          </p:cNvSpPr>
          <p:nvPr/>
        </p:nvSpPr>
        <p:spPr>
          <a:xfrm xmlns:a="http://schemas.openxmlformats.org/drawingml/2006/main">
            <a:off x="7162800" y="4953000"/>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defRPr sz="1200" b="1">
                <a:solidFill>
                  <a:srgbClr val="B38736"/>
                </a:solidFill>
                <a:latin typeface="Arial"/>
                <a:ea typeface="Arial"/>
                <a:cs typeface="Arial"/>
              </a:defRPr>
            </a:pPr>
            <a:r>
              <a:rPr sz="1200" b="1">
                <a:solidFill>
                  <a:srgbClr val="B38736"/>
                </a:solidFill>
                <a:latin typeface="Arial"/>
                <a:ea typeface="Arial"/>
                <a:cs typeface="Arial"/>
              </a:rPr>
              <a:t>WHAT LEARNERS SHOULD TAKE AWAY</a:t>
            </a:r>
          </a:p>
        </p:txBody>
      </p:sp>
      <p:sp>
        <p:nvSpPr>
          <p:cNvPr id="17" name="">
            <a:extLst xmlns:a="http://schemas.openxmlformats.org/drawingml/2006/main">
              <a:ext uri="{FF2B5EF4-FFF2-40B4-BE49-F238E27FC236}">
                <a16:creationId xmlns:a16="http://schemas.microsoft.com/office/drawing/2014/main" id="{D3DE078E-6679-40FA-99EB-B1A9A9CE7FAB}"/>
              </a:ext>
            </a:extLst>
          </p:cNvPr>
          <p:cNvSpPr>
            <a:spLocks xmlns:a="http://schemas.openxmlformats.org/drawingml/2006/main" noGrp="1"/>
          </p:cNvSpPr>
          <p:nvPr/>
        </p:nvSpPr>
        <p:spPr>
          <a:xfrm xmlns:a="http://schemas.openxmlformats.org/drawingml/2006/main">
            <a:off x="7162800" y="5257800"/>
            <a:ext cx="4286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630"/>
          </a:bodyPr>
          <a:lstStyle xmlns:a="http://schemas.openxmlformats.org/drawingml/2006/main"/>
          <a:p xmlns:a="http://schemas.openxmlformats.org/drawingml/2006/main">
            <a:pPr>
              <a:lnSpc>
                <a:spcPct val="105000"/>
              </a:lnSpc>
              <a:buNone/>
              <a:defRPr sz="1425">
                <a:solidFill>
                  <a:srgbClr val="637783"/>
                </a:solidFill>
                <a:latin typeface="Arial"/>
                <a:ea typeface="Arial"/>
                <a:cs typeface="Arial"/>
              </a:defRPr>
            </a:pPr>
            <a:r>
              <a:rPr sz="1425">
                <a:solidFill>
                  <a:srgbClr val="637783"/>
                </a:solidFill>
                <a:latin typeface="Arial"/>
                <a:ea typeface="Arial"/>
                <a:cs typeface="Arial"/>
              </a:rPr>
              <a:t>Risk includes the chance of loss as well as the chance of gain. The displayed results are examples, not a forecast of a real investment.</a:t>
            </a:r>
          </a:p>
        </p:txBody>
      </p:sp>
      <p:sp>
        <p:nvSpPr>
          <p:cNvPr id="18" name="">
            <a:extLst xmlns:a="http://schemas.openxmlformats.org/drawingml/2006/main">
              <a:ext uri="{FF2B5EF4-FFF2-40B4-BE49-F238E27FC236}">
                <a16:creationId xmlns:a16="http://schemas.microsoft.com/office/drawing/2014/main" id="{FED973AC-54D9-486C-9DF7-7F8987A345CD}"/>
              </a:ext>
            </a:extLst>
          </p:cNvPr>
          <p:cNvSpPr>
            <a:spLocks xmlns:a="http://schemas.openxmlformats.org/drawingml/2006/main" noGrp="1"/>
          </p:cNvSpPr>
          <p:nvPr/>
        </p:nvSpPr>
        <p:spPr>
          <a:xfrm xmlns:a="http://schemas.openxmlformats.org/drawingml/2006/main">
            <a:off x="742950" y="6115050"/>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a:solidFill>
                  <a:srgbClr val="637783"/>
                </a:solidFill>
                <a:latin typeface="Arial"/>
                <a:ea typeface="Arial"/>
                <a:cs typeface="Arial"/>
              </a:defRPr>
            </a:pPr>
            <a:r>
              <a:rPr sz="1200">
                <a:solidFill>
                  <a:srgbClr val="637783"/>
                </a:solidFill>
                <a:latin typeface="Arial"/>
                <a:ea typeface="Arial"/>
                <a:cs typeface="Arial"/>
              </a:rPr>
              <a:t>Built with JavaScript and ApexCharts  /  Uses virtual assets and assumptions, not live market prices</a:t>
            </a:r>
          </a:p>
        </p:txBody>
      </p:sp>
    </p:spTree>
    <p:extLst>
      <p:ext uri="{BB962C8B-B14F-4D97-AF65-F5344CB8AC3E}">
        <p14:creationId xmlns:p14="http://schemas.microsoft.com/office/powerpoint/2010/main" val="1328772918"/>
      </p:ext>
    </p:extLst>
  </p:cSld>
</p:sld>
</file>

<file path=ppt/slides/slide4.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139DB2B-B2F7-4A72-958D-1B0EB308A076}"/>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C55F43"/>
                </a:solidFill>
                <a:latin typeface="Arial"/>
                <a:ea typeface="Arial"/>
                <a:cs typeface="Arial"/>
              </a:defRPr>
            </a:pPr>
            <a:r>
              <a:rPr sz="1200" b="1">
                <a:solidFill>
                  <a:srgbClr val="C55F43"/>
                </a:solidFill>
                <a:latin typeface="Arial"/>
                <a:ea typeface="Arial"/>
                <a:cs typeface="Arial"/>
              </a:rPr>
              <a:t>SANGYAN HACKATHON     /     04     NIVESH</a:t>
            </a:r>
          </a:p>
        </p:txBody>
      </p:sp>
      <p:sp>
        <p:nvSpPr>
          <p:cNvPr id="2" name="">
            <a:extLst xmlns:a="http://schemas.openxmlformats.org/drawingml/2006/main">
              <a:ext uri="{FF2B5EF4-FFF2-40B4-BE49-F238E27FC236}">
                <a16:creationId xmlns:a16="http://schemas.microsoft.com/office/drawing/2014/main" id="{4B66870F-6FC9-4191-B661-F268996A0BDC}"/>
              </a:ext>
            </a:extLst>
          </p:cNvPr>
          <p:cNvSpPr>
            <a:spLocks xmlns:a="http://schemas.openxmlformats.org/drawingml/2006/main" noGrp="1"/>
          </p:cNvSpPr>
          <p:nvPr/>
        </p:nvSpPr>
        <p:spPr>
          <a:xfrm xmlns:a="http://schemas.openxmlformats.org/drawingml/2006/main">
            <a:off x="685800" y="71437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96000"/>
              </a:lnSpc>
              <a:buNone/>
              <a:defRPr sz="3450" b="1">
                <a:solidFill>
                  <a:srgbClr val="18364A"/>
                </a:solidFill>
                <a:latin typeface="Arial"/>
                <a:ea typeface="Arial"/>
                <a:cs typeface="Arial"/>
              </a:defRPr>
            </a:pPr>
            <a:r>
              <a:rPr sz="3450" b="1">
                <a:solidFill>
                  <a:srgbClr val="18364A"/>
                </a:solidFill>
                <a:latin typeface="Arial"/>
                <a:ea typeface="Arial"/>
                <a:cs typeface="Arial"/>
              </a:rPr>
              <a:t>Fraud Detection</a:t>
            </a:r>
          </a:p>
        </p:txBody>
      </p:sp>
      <p:sp>
        <p:nvSpPr>
          <p:cNvPr id="3" name="">
            <a:extLst xmlns:a="http://schemas.openxmlformats.org/drawingml/2006/main">
              <a:ext uri="{FF2B5EF4-FFF2-40B4-BE49-F238E27FC236}">
                <a16:creationId xmlns:a16="http://schemas.microsoft.com/office/drawing/2014/main" id="{DDFAF6C3-4E19-4821-9328-444D71D793BB}"/>
              </a:ext>
            </a:extLst>
          </p:cNvPr>
          <p:cNvSpPr>
            <a:spLocks xmlns:a="http://schemas.openxmlformats.org/drawingml/2006/main" noGrp="1"/>
          </p:cNvSpPr>
          <p:nvPr/>
        </p:nvSpPr>
        <p:spPr>
          <a:xfrm xmlns:a="http://schemas.openxmlformats.org/drawingml/2006/main">
            <a:off x="72390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227"/>
          </a:bodyPr>
          <a:lstStyle xmlns:a="http://schemas.openxmlformats.org/drawingml/2006/main"/>
          <a:p xmlns:a="http://schemas.openxmlformats.org/drawingml/2006/main">
            <a:pPr>
              <a:lnSpc>
                <a:spcPct val="108000"/>
              </a:lnSpc>
              <a:buNone/>
              <a:defRPr sz="1800">
                <a:solidFill>
                  <a:srgbClr val="637783"/>
                </a:solidFill>
                <a:latin typeface="Arial"/>
                <a:ea typeface="Arial"/>
                <a:cs typeface="Arial"/>
              </a:defRPr>
            </a:pPr>
            <a:r>
              <a:rPr sz="1800">
                <a:solidFill>
                  <a:srgbClr val="637783"/>
                </a:solidFill>
                <a:latin typeface="Arial"/>
                <a:ea typeface="Arial"/>
                <a:cs typeface="Arial"/>
              </a:rPr>
              <a:t>A quick first review of an investment message, image, PDF, or voice note, with the evidence shown alongside the findings.</a:t>
            </a:r>
          </a:p>
        </p:txBody>
      </p:sp>
      <p:sp>
        <p:nvSpPr>
          <p:cNvPr id="4" name="">
            <a:extLst xmlns:a="http://schemas.openxmlformats.org/drawingml/2006/main">
              <a:ext uri="{FF2B5EF4-FFF2-40B4-BE49-F238E27FC236}">
                <a16:creationId xmlns:a16="http://schemas.microsoft.com/office/drawing/2014/main" id="{3FE91F68-FA85-4DE2-9136-11525318E1DD}"/>
              </a:ext>
            </a:extLst>
          </p:cNvPr>
          <p:cNvSpPr>
            <a:spLocks xmlns:a="http://schemas.openxmlformats.org/drawingml/2006/main" noGrp="1"/>
          </p:cNvSpPr>
          <p:nvPr/>
        </p:nvSpPr>
        <p:spPr>
          <a:xfrm xmlns:a="http://schemas.openxmlformats.org/drawingml/2006/main">
            <a:off x="742950" y="2343150"/>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HOW A USER MOVES THROUGH IT</a:t>
            </a:r>
          </a:p>
        </p:txBody>
      </p:sp>
      <p:sp>
        <p:nvSpPr>
          <p:cNvPr id="5" name="">
            <a:extLst xmlns:a="http://schemas.openxmlformats.org/drawingml/2006/main">
              <a:ext uri="{FF2B5EF4-FFF2-40B4-BE49-F238E27FC236}">
                <a16:creationId xmlns:a16="http://schemas.microsoft.com/office/drawing/2014/main" id="{7A68AD29-5EE9-4537-89BD-BF554D67F8FC}"/>
              </a:ext>
            </a:extLst>
          </p:cNvPr>
          <p:cNvSpPr>
            <a:spLocks xmlns:a="http://schemas.openxmlformats.org/drawingml/2006/main" noGrp="1"/>
          </p:cNvSpPr>
          <p:nvPr/>
        </p:nvSpPr>
        <p:spPr>
          <a:xfrm xmlns:a="http://schemas.openxmlformats.org/drawingml/2006/main">
            <a:off x="742950" y="277177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D0D6F84-E0DC-4500-AA25-19771F904805}"/>
              </a:ext>
            </a:extLst>
          </p:cNvPr>
          <p:cNvSpPr>
            <a:spLocks xmlns:a="http://schemas.openxmlformats.org/drawingml/2006/main" noGrp="1"/>
          </p:cNvSpPr>
          <p:nvPr/>
        </p:nvSpPr>
        <p:spPr>
          <a:xfrm xmlns:a="http://schemas.openxmlformats.org/drawingml/2006/main">
            <a:off x="1362075" y="27717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Add the evidence you have</a:t>
            </a:r>
          </a:p>
        </p:txBody>
      </p:sp>
      <p:sp>
        <p:nvSpPr>
          <p:cNvPr id="7" name="">
            <a:extLst xmlns:a="http://schemas.openxmlformats.org/drawingml/2006/main">
              <a:ext uri="{FF2B5EF4-FFF2-40B4-BE49-F238E27FC236}">
                <a16:creationId xmlns:a16="http://schemas.microsoft.com/office/drawing/2014/main" id="{CA99B525-D548-4AA7-8245-E82ABB8F775F}"/>
              </a:ext>
            </a:extLst>
          </p:cNvPr>
          <p:cNvSpPr>
            <a:spLocks xmlns:a="http://schemas.openxmlformats.org/drawingml/2006/main" noGrp="1"/>
          </p:cNvSpPr>
          <p:nvPr/>
        </p:nvSpPr>
        <p:spPr>
          <a:xfrm xmlns:a="http://schemas.openxmlformats.org/drawingml/2006/main">
            <a:off x="1362075" y="31051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Enter message text and, if available, a name or handle, voice recording, screenshot, or PDF.</a:t>
            </a:r>
          </a:p>
        </p:txBody>
      </p:sp>
      <p:sp>
        <p:nvSpPr>
          <p:cNvPr id="8" name="">
            <a:extLst xmlns:a="http://schemas.openxmlformats.org/drawingml/2006/main">
              <a:ext uri="{FF2B5EF4-FFF2-40B4-BE49-F238E27FC236}">
                <a16:creationId xmlns:a16="http://schemas.microsoft.com/office/drawing/2014/main" id="{8F48B90C-EA6B-4F2A-9CE2-93BB5C5A929C}"/>
              </a:ext>
            </a:extLst>
          </p:cNvPr>
          <p:cNvSpPr>
            <a:spLocks xmlns:a="http://schemas.openxmlformats.org/drawingml/2006/main" noGrp="1"/>
          </p:cNvSpPr>
          <p:nvPr/>
        </p:nvSpPr>
        <p:spPr>
          <a:xfrm xmlns:a="http://schemas.openxmlformats.org/drawingml/2006/main">
            <a:off x="742950" y="37338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2CE4FC38-DE35-44B1-A56F-CDBECF124A1E}"/>
              </a:ext>
            </a:extLst>
          </p:cNvPr>
          <p:cNvSpPr>
            <a:spLocks xmlns:a="http://schemas.openxmlformats.org/drawingml/2006/main" noGrp="1"/>
          </p:cNvSpPr>
          <p:nvPr/>
        </p:nvSpPr>
        <p:spPr>
          <a:xfrm xmlns:a="http://schemas.openxmlformats.org/drawingml/2006/main">
            <a:off x="1362075" y="37338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Read and cross-check it</a:t>
            </a:r>
          </a:p>
        </p:txBody>
      </p:sp>
      <p:sp>
        <p:nvSpPr>
          <p:cNvPr id="10" name="">
            <a:extLst xmlns:a="http://schemas.openxmlformats.org/drawingml/2006/main">
              <a:ext uri="{FF2B5EF4-FFF2-40B4-BE49-F238E27FC236}">
                <a16:creationId xmlns:a16="http://schemas.microsoft.com/office/drawing/2014/main" id="{787F0673-B248-48CD-BC83-F6799463EF47}"/>
              </a:ext>
            </a:extLst>
          </p:cNvPr>
          <p:cNvSpPr>
            <a:spLocks xmlns:a="http://schemas.openxmlformats.org/drawingml/2006/main" noGrp="1"/>
          </p:cNvSpPr>
          <p:nvPr/>
        </p:nvSpPr>
        <p:spPr>
          <a:xfrm xmlns:a="http://schemas.openxmlformats.org/drawingml/2006/main">
            <a:off x="1362075" y="40671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82"/>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AI extracts names, SEBI numbers, links, claims, and visible warning signs. Voice can be transcribed in supported languages.</a:t>
            </a:r>
          </a:p>
        </p:txBody>
      </p:sp>
      <p:sp>
        <p:nvSpPr>
          <p:cNvPr id="11" name="">
            <a:extLst xmlns:a="http://schemas.openxmlformats.org/drawingml/2006/main">
              <a:ext uri="{FF2B5EF4-FFF2-40B4-BE49-F238E27FC236}">
                <a16:creationId xmlns:a16="http://schemas.microsoft.com/office/drawing/2014/main" id="{D6168041-A766-460B-B24A-201072276327}"/>
              </a:ext>
            </a:extLst>
          </p:cNvPr>
          <p:cNvSpPr>
            <a:spLocks xmlns:a="http://schemas.openxmlformats.org/drawingml/2006/main" noGrp="1"/>
          </p:cNvSpPr>
          <p:nvPr/>
        </p:nvSpPr>
        <p:spPr>
          <a:xfrm xmlns:a="http://schemas.openxmlformats.org/drawingml/2006/main">
            <a:off x="742950" y="469582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79876FF9-166C-44A5-8AD0-6AEC69E5AEB1}"/>
              </a:ext>
            </a:extLst>
          </p:cNvPr>
          <p:cNvSpPr>
            <a:spLocks xmlns:a="http://schemas.openxmlformats.org/drawingml/2006/main" noGrp="1"/>
          </p:cNvSpPr>
          <p:nvPr/>
        </p:nvSpPr>
        <p:spPr>
          <a:xfrm xmlns:a="http://schemas.openxmlformats.org/drawingml/2006/main">
            <a:off x="1362075" y="469582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Inspect each result</a:t>
            </a:r>
          </a:p>
        </p:txBody>
      </p:sp>
      <p:sp>
        <p:nvSpPr>
          <p:cNvPr id="13" name="">
            <a:extLst xmlns:a="http://schemas.openxmlformats.org/drawingml/2006/main">
              <a:ext uri="{FF2B5EF4-FFF2-40B4-BE49-F238E27FC236}">
                <a16:creationId xmlns:a16="http://schemas.microsoft.com/office/drawing/2014/main" id="{637F6306-8600-4EB6-B5DD-C97D212D4201}"/>
              </a:ext>
            </a:extLst>
          </p:cNvPr>
          <p:cNvSpPr>
            <a:spLocks xmlns:a="http://schemas.openxmlformats.org/drawingml/2006/main" noGrp="1"/>
          </p:cNvSpPr>
          <p:nvPr/>
        </p:nvSpPr>
        <p:spPr>
          <a:xfrm xmlns:a="http://schemas.openxmlformats.org/drawingml/2006/main">
            <a:off x="1362075" y="50292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Review the summary, risk score, registration comparison, and a separate explanation for each URL.</a:t>
            </a:r>
          </a:p>
        </p:txBody>
      </p:sp>
      <p:sp>
        <p:nvSpPr>
          <p:cNvPr id="14" name="">
            <a:extLst xmlns:a="http://schemas.openxmlformats.org/drawingml/2006/main">
              <a:ext uri="{FF2B5EF4-FFF2-40B4-BE49-F238E27FC236}">
                <a16:creationId xmlns:a16="http://schemas.microsoft.com/office/drawing/2014/main" id="{E53270FB-192B-4FA5-A172-C14263B90D49}"/>
              </a:ext>
            </a:extLst>
          </p:cNvPr>
          <p:cNvSpPr>
            <a:spLocks xmlns:a="http://schemas.openxmlformats.org/drawingml/2006/main" noGrp="1"/>
          </p:cNvSpPr>
          <p:nvPr/>
        </p:nvSpPr>
        <p:spPr>
          <a:xfrm xmlns:a="http://schemas.openxmlformats.org/drawingml/2006/main">
            <a:off x="7162800" y="23431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HOW THE CHECKS ARE COMBINED</a:t>
            </a:r>
          </a:p>
        </p:txBody>
      </p:sp>
      <p:sp>
        <p:nvSpPr>
          <p:cNvPr id="15" name="">
            <a:extLst xmlns:a="http://schemas.openxmlformats.org/drawingml/2006/main">
              <a:ext uri="{FF2B5EF4-FFF2-40B4-BE49-F238E27FC236}">
                <a16:creationId xmlns:a16="http://schemas.microsoft.com/office/drawing/2014/main" id="{9CD7E74E-D098-4F29-9700-2C5BC1049928}"/>
              </a:ext>
            </a:extLst>
          </p:cNvPr>
          <p:cNvSpPr>
            <a:spLocks xmlns:a="http://schemas.openxmlformats.org/drawingml/2006/main" noGrp="1"/>
          </p:cNvSpPr>
          <p:nvPr/>
        </p:nvSpPr>
        <p:spPr>
          <a:xfrm xmlns:a="http://schemas.openxmlformats.org/drawingml/2006/main">
            <a:off x="7162800" y="2771775"/>
            <a:ext cx="42862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10000"/>
              </a:lnSpc>
              <a:buNone/>
              <a:defRPr sz="1575">
                <a:solidFill>
                  <a:srgbClr val="18364A"/>
                </a:solidFill>
                <a:latin typeface="Arial"/>
                <a:ea typeface="Arial"/>
                <a:cs typeface="Arial"/>
              </a:defRPr>
            </a:pPr>
            <a:r>
              <a:rPr sz="1575">
                <a:solidFill>
                  <a:srgbClr val="18364A"/>
                </a:solidFill>
                <a:latin typeface="Arial"/>
                <a:ea typeface="Arial"/>
                <a:cs typeface="Arial"/>
              </a:rPr>
              <a:t>Qwen3-VL:8B reads visual evidence. AI4Bharat with Sherpa-ONNX handles supported voice transcription. Local rules look for pressure tactics and unusually high return claims. Registration and URL checks compare the extracted details with local SEBI records and configured company domains.</a:t>
            </a:r>
          </a:p>
        </p:txBody>
      </p:sp>
      <p:sp>
        <p:nvSpPr>
          <p:cNvPr id="16" name="">
            <a:extLst xmlns:a="http://schemas.openxmlformats.org/drawingml/2006/main">
              <a:ext uri="{FF2B5EF4-FFF2-40B4-BE49-F238E27FC236}">
                <a16:creationId xmlns:a16="http://schemas.microsoft.com/office/drawing/2014/main" id="{6D3216F7-93F6-4DED-BF08-49CBA4676F71}"/>
              </a:ext>
            </a:extLst>
          </p:cNvPr>
          <p:cNvSpPr>
            <a:spLocks xmlns:a="http://schemas.openxmlformats.org/drawingml/2006/main" noGrp="1"/>
          </p:cNvSpPr>
          <p:nvPr/>
        </p:nvSpPr>
        <p:spPr>
          <a:xfrm xmlns:a="http://schemas.openxmlformats.org/drawingml/2006/main">
            <a:off x="7162800" y="4953000"/>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defRPr sz="1200" b="1">
                <a:solidFill>
                  <a:srgbClr val="B38736"/>
                </a:solidFill>
                <a:latin typeface="Arial"/>
                <a:ea typeface="Arial"/>
                <a:cs typeface="Arial"/>
              </a:defRPr>
            </a:pPr>
            <a:r>
              <a:rPr sz="1200" b="1">
                <a:solidFill>
                  <a:srgbClr val="B38736"/>
                </a:solidFill>
                <a:latin typeface="Arial"/>
                <a:ea typeface="Arial"/>
                <a:cs typeface="Arial"/>
              </a:rPr>
              <a:t>USE THE RESULT CAREFULLY</a:t>
            </a:r>
          </a:p>
        </p:txBody>
      </p:sp>
      <p:sp>
        <p:nvSpPr>
          <p:cNvPr id="17" name="">
            <a:extLst xmlns:a="http://schemas.openxmlformats.org/drawingml/2006/main">
              <a:ext uri="{FF2B5EF4-FFF2-40B4-BE49-F238E27FC236}">
                <a16:creationId xmlns:a16="http://schemas.microsoft.com/office/drawing/2014/main" id="{E7EACD7B-6D5B-4A1A-ACB4-003335CCA527}"/>
              </a:ext>
            </a:extLst>
          </p:cNvPr>
          <p:cNvSpPr>
            <a:spLocks xmlns:a="http://schemas.openxmlformats.org/drawingml/2006/main" noGrp="1"/>
          </p:cNvSpPr>
          <p:nvPr/>
        </p:nvSpPr>
        <p:spPr>
          <a:xfrm xmlns:a="http://schemas.openxmlformats.org/drawingml/2006/main">
            <a:off x="7162800" y="5257800"/>
            <a:ext cx="4286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630"/>
          </a:bodyPr>
          <a:lstStyle xmlns:a="http://schemas.openxmlformats.org/drawingml/2006/main"/>
          <a:p xmlns:a="http://schemas.openxmlformats.org/drawingml/2006/main">
            <a:pPr>
              <a:lnSpc>
                <a:spcPct val="105000"/>
              </a:lnSpc>
              <a:buNone/>
              <a:defRPr sz="1425">
                <a:solidFill>
                  <a:srgbClr val="637783"/>
                </a:solidFill>
                <a:latin typeface="Arial"/>
                <a:ea typeface="Arial"/>
                <a:cs typeface="Arial"/>
              </a:defRPr>
            </a:pPr>
            <a:r>
              <a:rPr sz="1425">
                <a:solidFill>
                  <a:srgbClr val="637783"/>
                </a:solidFill>
                <a:latin typeface="Arial"/>
                <a:ea typeface="Arial"/>
                <a:cs typeface="Arial"/>
              </a:rPr>
              <a:t>This is an initial screening. Local records are not a live SEBI lookup, and a risk score is not an official finding that fraud occurred.</a:t>
            </a:r>
          </a:p>
        </p:txBody>
      </p:sp>
      <p:sp>
        <p:nvSpPr>
          <p:cNvPr id="18" name="">
            <a:extLst xmlns:a="http://schemas.openxmlformats.org/drawingml/2006/main">
              <a:ext uri="{FF2B5EF4-FFF2-40B4-BE49-F238E27FC236}">
                <a16:creationId xmlns:a16="http://schemas.microsoft.com/office/drawing/2014/main" id="{AD65C0D8-6E05-4B5A-92E8-DA8485FDCFB2}"/>
              </a:ext>
            </a:extLst>
          </p:cNvPr>
          <p:cNvSpPr>
            <a:spLocks xmlns:a="http://schemas.openxmlformats.org/drawingml/2006/main" noGrp="1"/>
          </p:cNvSpPr>
          <p:nvPr/>
        </p:nvSpPr>
        <p:spPr>
          <a:xfrm xmlns:a="http://schemas.openxmlformats.org/drawingml/2006/main">
            <a:off x="742950" y="6115050"/>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a:solidFill>
                  <a:srgbClr val="637783"/>
                </a:solidFill>
                <a:latin typeface="Arial"/>
                <a:ea typeface="Arial"/>
                <a:cs typeface="Arial"/>
              </a:defRPr>
            </a:pPr>
            <a:r>
              <a:rPr sz="1200">
                <a:solidFill>
                  <a:srgbClr val="637783"/>
                </a:solidFill>
                <a:latin typeface="Arial"/>
                <a:ea typeface="Arial"/>
                <a:cs typeface="Arial"/>
              </a:rPr>
              <a:t>Models and tools: Qwen3-VL:8B  /  AI4Bharat  /  Sherpa-ONNX  /  FastAPI  /  SQLite</a:t>
            </a:r>
          </a:p>
        </p:txBody>
      </p:sp>
    </p:spTree>
    <p:extLst>
      <p:ext uri="{BB962C8B-B14F-4D97-AF65-F5344CB8AC3E}">
        <p14:creationId xmlns:p14="http://schemas.microsoft.com/office/powerpoint/2010/main" val="1511281332"/>
      </p:ext>
    </p:extLst>
  </p:cSld>
</p:sld>
</file>

<file path=ppt/slides/slide5.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C0BB16E-2E2C-4FA8-9156-7C3EBC375DF0}"/>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C55F43"/>
                </a:solidFill>
                <a:latin typeface="Arial"/>
                <a:ea typeface="Arial"/>
                <a:cs typeface="Arial"/>
              </a:defRPr>
            </a:pPr>
            <a:r>
              <a:rPr sz="1200" b="1">
                <a:solidFill>
                  <a:srgbClr val="C55F43"/>
                </a:solidFill>
                <a:latin typeface="Arial"/>
                <a:ea typeface="Arial"/>
                <a:cs typeface="Arial"/>
              </a:rPr>
              <a:t>SANGYAN HACKATHON     /     05     NIVESH</a:t>
            </a:r>
          </a:p>
        </p:txBody>
      </p:sp>
      <p:sp>
        <p:nvSpPr>
          <p:cNvPr id="2" name="">
            <a:extLst xmlns:a="http://schemas.openxmlformats.org/drawingml/2006/main">
              <a:ext uri="{FF2B5EF4-FFF2-40B4-BE49-F238E27FC236}">
                <a16:creationId xmlns:a16="http://schemas.microsoft.com/office/drawing/2014/main" id="{38500C02-29BD-4AD8-BB4B-9FEFCE7F3DB6}"/>
              </a:ext>
            </a:extLst>
          </p:cNvPr>
          <p:cNvSpPr>
            <a:spLocks xmlns:a="http://schemas.openxmlformats.org/drawingml/2006/main" noGrp="1"/>
          </p:cNvSpPr>
          <p:nvPr/>
        </p:nvSpPr>
        <p:spPr>
          <a:xfrm xmlns:a="http://schemas.openxmlformats.org/drawingml/2006/main">
            <a:off x="685800" y="71437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96000"/>
              </a:lnSpc>
              <a:buNone/>
              <a:defRPr sz="3450" b="1">
                <a:solidFill>
                  <a:srgbClr val="18364A"/>
                </a:solidFill>
                <a:latin typeface="Arial"/>
                <a:ea typeface="Arial"/>
                <a:cs typeface="Arial"/>
              </a:defRPr>
            </a:pPr>
            <a:r>
              <a:rPr sz="3450" b="1">
                <a:solidFill>
                  <a:srgbClr val="18364A"/>
                </a:solidFill>
                <a:latin typeface="Arial"/>
                <a:ea typeface="Arial"/>
                <a:cs typeface="Arial"/>
              </a:rPr>
              <a:t>Multilingual AI Chatbot</a:t>
            </a:r>
          </a:p>
        </p:txBody>
      </p:sp>
      <p:sp>
        <p:nvSpPr>
          <p:cNvPr id="3" name="">
            <a:extLst xmlns:a="http://schemas.openxmlformats.org/drawingml/2006/main">
              <a:ext uri="{FF2B5EF4-FFF2-40B4-BE49-F238E27FC236}">
                <a16:creationId xmlns:a16="http://schemas.microsoft.com/office/drawing/2014/main" id="{133DCBCD-C078-4E5B-A7A5-BB7B0A23E32E}"/>
              </a:ext>
            </a:extLst>
          </p:cNvPr>
          <p:cNvSpPr>
            <a:spLocks xmlns:a="http://schemas.openxmlformats.org/drawingml/2006/main" noGrp="1"/>
          </p:cNvSpPr>
          <p:nvPr/>
        </p:nvSpPr>
        <p:spPr>
          <a:xfrm xmlns:a="http://schemas.openxmlformats.org/drawingml/2006/main">
            <a:off x="72390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027"/>
          </a:bodyPr>
          <a:lstStyle xmlns:a="http://schemas.openxmlformats.org/drawingml/2006/main"/>
          <a:p xmlns:a="http://schemas.openxmlformats.org/drawingml/2006/main">
            <a:pPr>
              <a:lnSpc>
                <a:spcPct val="108000"/>
              </a:lnSpc>
              <a:buNone/>
              <a:defRPr sz="1800">
                <a:solidFill>
                  <a:srgbClr val="637783"/>
                </a:solidFill>
                <a:latin typeface="Arial"/>
                <a:ea typeface="Arial"/>
                <a:cs typeface="Arial"/>
              </a:defRPr>
            </a:pPr>
            <a:r>
              <a:rPr sz="1800">
                <a:solidFill>
                  <a:srgbClr val="637783"/>
                </a:solidFill>
                <a:latin typeface="Arial"/>
                <a:ea typeface="Arial"/>
                <a:cs typeface="Arial"/>
              </a:rPr>
              <a:t>A financial learning assistant that answers in the website language and streams the explanation as it is written.</a:t>
            </a:r>
          </a:p>
        </p:txBody>
      </p:sp>
      <p:sp>
        <p:nvSpPr>
          <p:cNvPr id="4" name="">
            <a:extLst xmlns:a="http://schemas.openxmlformats.org/drawingml/2006/main">
              <a:ext uri="{FF2B5EF4-FFF2-40B4-BE49-F238E27FC236}">
                <a16:creationId xmlns:a16="http://schemas.microsoft.com/office/drawing/2014/main" id="{6779F7C2-C473-4A1C-9954-EA3462D53CA0}"/>
              </a:ext>
            </a:extLst>
          </p:cNvPr>
          <p:cNvSpPr>
            <a:spLocks xmlns:a="http://schemas.openxmlformats.org/drawingml/2006/main" noGrp="1"/>
          </p:cNvSpPr>
          <p:nvPr/>
        </p:nvSpPr>
        <p:spPr>
          <a:xfrm xmlns:a="http://schemas.openxmlformats.org/drawingml/2006/main">
            <a:off x="742950" y="2343150"/>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HOW A USER MOVES THROUGH IT</a:t>
            </a:r>
          </a:p>
        </p:txBody>
      </p:sp>
      <p:sp>
        <p:nvSpPr>
          <p:cNvPr id="5" name="">
            <a:extLst xmlns:a="http://schemas.openxmlformats.org/drawingml/2006/main">
              <a:ext uri="{FF2B5EF4-FFF2-40B4-BE49-F238E27FC236}">
                <a16:creationId xmlns:a16="http://schemas.microsoft.com/office/drawing/2014/main" id="{5B5E2F0F-D3FC-4DAE-9D9F-1E0E2950C82E}"/>
              </a:ext>
            </a:extLst>
          </p:cNvPr>
          <p:cNvSpPr>
            <a:spLocks xmlns:a="http://schemas.openxmlformats.org/drawingml/2006/main" noGrp="1"/>
          </p:cNvSpPr>
          <p:nvPr/>
        </p:nvSpPr>
        <p:spPr>
          <a:xfrm xmlns:a="http://schemas.openxmlformats.org/drawingml/2006/main">
            <a:off x="742950" y="277177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AB38BE3-4F72-4EB3-9719-C82CA1D811BE}"/>
              </a:ext>
            </a:extLst>
          </p:cNvPr>
          <p:cNvSpPr>
            <a:spLocks xmlns:a="http://schemas.openxmlformats.org/drawingml/2006/main" noGrp="1"/>
          </p:cNvSpPr>
          <p:nvPr/>
        </p:nvSpPr>
        <p:spPr>
          <a:xfrm xmlns:a="http://schemas.openxmlformats.org/drawingml/2006/main">
            <a:off x="1362075" y="27717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Choose a language and ask</a:t>
            </a:r>
          </a:p>
        </p:txBody>
      </p:sp>
      <p:sp>
        <p:nvSpPr>
          <p:cNvPr id="7" name="">
            <a:extLst xmlns:a="http://schemas.openxmlformats.org/drawingml/2006/main">
              <a:ext uri="{FF2B5EF4-FFF2-40B4-BE49-F238E27FC236}">
                <a16:creationId xmlns:a16="http://schemas.microsoft.com/office/drawing/2014/main" id="{AF3FC5BF-BD1B-4DBB-83A5-0DC800B1C5C1}"/>
              </a:ext>
            </a:extLst>
          </p:cNvPr>
          <p:cNvSpPr>
            <a:spLocks xmlns:a="http://schemas.openxmlformats.org/drawingml/2006/main" noGrp="1"/>
          </p:cNvSpPr>
          <p:nvPr/>
        </p:nvSpPr>
        <p:spPr>
          <a:xfrm xmlns:a="http://schemas.openxmlformats.org/drawingml/2006/main">
            <a:off x="1362075" y="31051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The chatbot supports text conversations in 22 Indian languages plus English.</a:t>
            </a:r>
          </a:p>
        </p:txBody>
      </p:sp>
      <p:sp>
        <p:nvSpPr>
          <p:cNvPr id="8" name="">
            <a:extLst xmlns:a="http://schemas.openxmlformats.org/drawingml/2006/main">
              <a:ext uri="{FF2B5EF4-FFF2-40B4-BE49-F238E27FC236}">
                <a16:creationId xmlns:a16="http://schemas.microsoft.com/office/drawing/2014/main" id="{210A432C-95ED-4981-B7BF-59557CF3A6B7}"/>
              </a:ext>
            </a:extLst>
          </p:cNvPr>
          <p:cNvSpPr>
            <a:spLocks xmlns:a="http://schemas.openxmlformats.org/drawingml/2006/main" noGrp="1"/>
          </p:cNvSpPr>
          <p:nvPr/>
        </p:nvSpPr>
        <p:spPr>
          <a:xfrm xmlns:a="http://schemas.openxmlformats.org/drawingml/2006/main">
            <a:off x="742950" y="37338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79554F0D-68C8-44B6-AEB0-4A830B19479D}"/>
              </a:ext>
            </a:extLst>
          </p:cNvPr>
          <p:cNvSpPr>
            <a:spLocks xmlns:a="http://schemas.openxmlformats.org/drawingml/2006/main" noGrp="1"/>
          </p:cNvSpPr>
          <p:nvPr/>
        </p:nvSpPr>
        <p:spPr>
          <a:xfrm xmlns:a="http://schemas.openxmlformats.org/drawingml/2006/main">
            <a:off x="1362075" y="37338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Follow the explanation</a:t>
            </a:r>
          </a:p>
        </p:txBody>
      </p:sp>
      <p:sp>
        <p:nvSpPr>
          <p:cNvPr id="10" name="">
            <a:extLst xmlns:a="http://schemas.openxmlformats.org/drawingml/2006/main">
              <a:ext uri="{FF2B5EF4-FFF2-40B4-BE49-F238E27FC236}">
                <a16:creationId xmlns:a16="http://schemas.microsoft.com/office/drawing/2014/main" id="{617B312D-1AE5-4893-A149-9CC8E5FBE13A}"/>
              </a:ext>
            </a:extLst>
          </p:cNvPr>
          <p:cNvSpPr>
            <a:spLocks xmlns:a="http://schemas.openxmlformats.org/drawingml/2006/main" noGrp="1"/>
          </p:cNvSpPr>
          <p:nvPr/>
        </p:nvSpPr>
        <p:spPr>
          <a:xfrm xmlns:a="http://schemas.openxmlformats.org/drawingml/2006/main">
            <a:off x="1362075" y="40671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The response appears progressively. Users can stop generation or close the side panel at any time.</a:t>
            </a:r>
          </a:p>
        </p:txBody>
      </p:sp>
      <p:sp>
        <p:nvSpPr>
          <p:cNvPr id="11" name="">
            <a:extLst xmlns:a="http://schemas.openxmlformats.org/drawingml/2006/main">
              <a:ext uri="{FF2B5EF4-FFF2-40B4-BE49-F238E27FC236}">
                <a16:creationId xmlns:a16="http://schemas.microsoft.com/office/drawing/2014/main" id="{0D02C70E-CB60-4A60-A576-DF9C11838CFD}"/>
              </a:ext>
            </a:extLst>
          </p:cNvPr>
          <p:cNvSpPr>
            <a:spLocks xmlns:a="http://schemas.openxmlformats.org/drawingml/2006/main" noGrp="1"/>
          </p:cNvSpPr>
          <p:nvPr/>
        </p:nvSpPr>
        <p:spPr>
          <a:xfrm xmlns:a="http://schemas.openxmlformats.org/drawingml/2006/main">
            <a:off x="742950" y="469582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E07798F0-BD4A-4848-8C74-0A648DFD78CD}"/>
              </a:ext>
            </a:extLst>
          </p:cNvPr>
          <p:cNvSpPr>
            <a:spLocks xmlns:a="http://schemas.openxmlformats.org/drawingml/2006/main" noGrp="1"/>
          </p:cNvSpPr>
          <p:nvPr/>
        </p:nvSpPr>
        <p:spPr>
          <a:xfrm xmlns:a="http://schemas.openxmlformats.org/drawingml/2006/main">
            <a:off x="1362075" y="469582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Use speech when available</a:t>
            </a:r>
          </a:p>
        </p:txBody>
      </p:sp>
      <p:sp>
        <p:nvSpPr>
          <p:cNvPr id="13" name="">
            <a:extLst xmlns:a="http://schemas.openxmlformats.org/drawingml/2006/main">
              <a:ext uri="{FF2B5EF4-FFF2-40B4-BE49-F238E27FC236}">
                <a16:creationId xmlns:a16="http://schemas.microsoft.com/office/drawing/2014/main" id="{A05E3688-DE67-4191-A365-B6A6A4FD4067}"/>
              </a:ext>
            </a:extLst>
          </p:cNvPr>
          <p:cNvSpPr>
            <a:spLocks xmlns:a="http://schemas.openxmlformats.org/drawingml/2006/main" noGrp="1"/>
          </p:cNvSpPr>
          <p:nvPr/>
        </p:nvSpPr>
        <p:spPr>
          <a:xfrm xmlns:a="http://schemas.openxmlformats.org/drawingml/2006/main">
            <a:off x="1362075" y="50292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Spoken replies can be switched on or off and follow the selected language when speech is supported.</a:t>
            </a:r>
          </a:p>
        </p:txBody>
      </p:sp>
      <p:sp>
        <p:nvSpPr>
          <p:cNvPr id="14" name="">
            <a:extLst xmlns:a="http://schemas.openxmlformats.org/drawingml/2006/main">
              <a:ext uri="{FF2B5EF4-FFF2-40B4-BE49-F238E27FC236}">
                <a16:creationId xmlns:a16="http://schemas.microsoft.com/office/drawing/2014/main" id="{5281BF5B-564D-4150-8A50-1BB57072C2E5}"/>
              </a:ext>
            </a:extLst>
          </p:cNvPr>
          <p:cNvSpPr>
            <a:spLocks xmlns:a="http://schemas.openxmlformats.org/drawingml/2006/main" noGrp="1"/>
          </p:cNvSpPr>
          <p:nvPr/>
        </p:nvSpPr>
        <p:spPr>
          <a:xfrm xmlns:a="http://schemas.openxmlformats.org/drawingml/2006/main">
            <a:off x="7162800" y="23431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HOW IT ANSWERS</a:t>
            </a:r>
          </a:p>
        </p:txBody>
      </p:sp>
      <p:sp>
        <p:nvSpPr>
          <p:cNvPr id="15" name="">
            <a:extLst xmlns:a="http://schemas.openxmlformats.org/drawingml/2006/main">
              <a:ext uri="{FF2B5EF4-FFF2-40B4-BE49-F238E27FC236}">
                <a16:creationId xmlns:a16="http://schemas.microsoft.com/office/drawing/2014/main" id="{87F05F41-0005-4E62-8758-6CAEC9E9DE83}"/>
              </a:ext>
            </a:extLst>
          </p:cNvPr>
          <p:cNvSpPr>
            <a:spLocks xmlns:a="http://schemas.openxmlformats.org/drawingml/2006/main" noGrp="1"/>
          </p:cNvSpPr>
          <p:nvPr/>
        </p:nvSpPr>
        <p:spPr>
          <a:xfrm xmlns:a="http://schemas.openxmlformats.org/drawingml/2006/main">
            <a:off x="7162800" y="2771775"/>
            <a:ext cx="42862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10000"/>
              </a:lnSpc>
              <a:buNone/>
              <a:defRPr sz="1575">
                <a:solidFill>
                  <a:srgbClr val="18364A"/>
                </a:solidFill>
                <a:latin typeface="Arial"/>
                <a:ea typeface="Arial"/>
                <a:cs typeface="Arial"/>
              </a:defRPr>
            </a:pPr>
            <a:r>
              <a:rPr sz="1575">
                <a:solidFill>
                  <a:srgbClr val="18364A"/>
                </a:solidFill>
                <a:latin typeface="Arial"/>
                <a:ea typeface="Arial"/>
                <a:cs typeface="Arial"/>
              </a:rPr>
              <a:t>Ollama runs Qwen3:8B and LangChain connects the conversation to the prompt. For relevant questions, BGE-M3 and ChromaDB retrieve passages from the project’s learning documents. The model uses that context to explain concepts in plain language.</a:t>
            </a:r>
          </a:p>
        </p:txBody>
      </p:sp>
      <p:sp>
        <p:nvSpPr>
          <p:cNvPr id="16" name="">
            <a:extLst xmlns:a="http://schemas.openxmlformats.org/drawingml/2006/main">
              <a:ext uri="{FF2B5EF4-FFF2-40B4-BE49-F238E27FC236}">
                <a16:creationId xmlns:a16="http://schemas.microsoft.com/office/drawing/2014/main" id="{4E43EF52-35D7-4B38-8768-DF87DC216534}"/>
              </a:ext>
            </a:extLst>
          </p:cNvPr>
          <p:cNvSpPr>
            <a:spLocks xmlns:a="http://schemas.openxmlformats.org/drawingml/2006/main" noGrp="1"/>
          </p:cNvSpPr>
          <p:nvPr/>
        </p:nvSpPr>
        <p:spPr>
          <a:xfrm xmlns:a="http://schemas.openxmlformats.org/drawingml/2006/main">
            <a:off x="7162800" y="4953000"/>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defRPr sz="1200" b="1">
                <a:solidFill>
                  <a:srgbClr val="B38736"/>
                </a:solidFill>
                <a:latin typeface="Arial"/>
                <a:ea typeface="Arial"/>
                <a:cs typeface="Arial"/>
              </a:defRPr>
            </a:pPr>
            <a:r>
              <a:rPr sz="1200" b="1">
                <a:solidFill>
                  <a:srgbClr val="B38736"/>
                </a:solidFill>
                <a:latin typeface="Arial"/>
                <a:ea typeface="Arial"/>
                <a:cs typeface="Arial"/>
              </a:rPr>
              <a:t>CLEAR SCOPE AND LANGUAGE SUPPORT</a:t>
            </a:r>
          </a:p>
        </p:txBody>
      </p:sp>
      <p:sp>
        <p:nvSpPr>
          <p:cNvPr id="17" name="">
            <a:extLst xmlns:a="http://schemas.openxmlformats.org/drawingml/2006/main">
              <a:ext uri="{FF2B5EF4-FFF2-40B4-BE49-F238E27FC236}">
                <a16:creationId xmlns:a16="http://schemas.microsoft.com/office/drawing/2014/main" id="{6F0B39B9-F8F8-48FE-AFE5-51E18CF4806C}"/>
              </a:ext>
            </a:extLst>
          </p:cNvPr>
          <p:cNvSpPr>
            <a:spLocks xmlns:a="http://schemas.openxmlformats.org/drawingml/2006/main" noGrp="1"/>
          </p:cNvSpPr>
          <p:nvPr/>
        </p:nvSpPr>
        <p:spPr>
          <a:xfrm xmlns:a="http://schemas.openxmlformats.org/drawingml/2006/main">
            <a:off x="7162800" y="5257800"/>
            <a:ext cx="4286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471"/>
          </a:bodyPr>
          <a:lstStyle xmlns:a="http://schemas.openxmlformats.org/drawingml/2006/main"/>
          <a:p xmlns:a="http://schemas.openxmlformats.org/drawingml/2006/main">
            <a:pPr>
              <a:lnSpc>
                <a:spcPct val="105000"/>
              </a:lnSpc>
              <a:buNone/>
              <a:defRPr sz="1425">
                <a:solidFill>
                  <a:srgbClr val="637783"/>
                </a:solidFill>
                <a:latin typeface="Arial"/>
                <a:ea typeface="Arial"/>
                <a:cs typeface="Arial"/>
              </a:defRPr>
            </a:pPr>
            <a:r>
              <a:rPr sz="1425">
                <a:solidFill>
                  <a:srgbClr val="637783"/>
                </a:solidFill>
                <a:latin typeface="Arial"/>
                <a:ea typeface="Arial"/>
                <a:cs typeface="Arial"/>
              </a:rPr>
              <a:t>The assistant explains general financial concepts and fraud awareness. It does not provide personal investment advice or stock picks. Spoken language support is narrower than text support.</a:t>
            </a:r>
          </a:p>
        </p:txBody>
      </p:sp>
      <p:sp>
        <p:nvSpPr>
          <p:cNvPr id="18" name="">
            <a:extLst xmlns:a="http://schemas.openxmlformats.org/drawingml/2006/main">
              <a:ext uri="{FF2B5EF4-FFF2-40B4-BE49-F238E27FC236}">
                <a16:creationId xmlns:a16="http://schemas.microsoft.com/office/drawing/2014/main" id="{709EEA41-8BA3-4D30-B0CF-318FDC1589D2}"/>
              </a:ext>
            </a:extLst>
          </p:cNvPr>
          <p:cNvSpPr>
            <a:spLocks xmlns:a="http://schemas.openxmlformats.org/drawingml/2006/main" noGrp="1"/>
          </p:cNvSpPr>
          <p:nvPr/>
        </p:nvSpPr>
        <p:spPr>
          <a:xfrm xmlns:a="http://schemas.openxmlformats.org/drawingml/2006/main">
            <a:off x="742950" y="6115050"/>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a:solidFill>
                  <a:srgbClr val="637783"/>
                </a:solidFill>
                <a:latin typeface="Arial"/>
                <a:ea typeface="Arial"/>
                <a:cs typeface="Arial"/>
              </a:defRPr>
            </a:pPr>
            <a:r>
              <a:rPr sz="1200">
                <a:solidFill>
                  <a:srgbClr val="637783"/>
                </a:solidFill>
                <a:latin typeface="Arial"/>
                <a:ea typeface="Arial"/>
                <a:cs typeface="Arial"/>
              </a:rPr>
              <a:t>Text languages: Assamese, Bengali, Bodo, Dogri, Gujarati, Hindi, Kannada, Kashmiri, Konkani, Maithili, Malayalam,</a:t>
            </a:r>
          </a:p>
          <a:p xmlns:a="http://schemas.openxmlformats.org/drawingml/2006/main">
            <a:pPr>
              <a:defRPr sz="1200">
                <a:solidFill>
                  <a:srgbClr val="637783"/>
                </a:solidFill>
                <a:latin typeface="Arial"/>
                <a:ea typeface="Arial"/>
                <a:cs typeface="Arial"/>
              </a:defRPr>
            </a:pPr>
            <a:r>
              <a:rPr sz="1200">
                <a:solidFill>
                  <a:srgbClr val="637783"/>
                </a:solidFill>
                <a:latin typeface="Arial"/>
                <a:ea typeface="Arial"/>
                <a:cs typeface="Arial"/>
              </a:rPr>
              <a:t>Manipuri, Marathi, Nepali, Odia, Punjabi, Sanskrit, Santali, Sindhi, Tamil, Telugu, Urdu, and English.</a:t>
            </a:r>
          </a:p>
        </p:txBody>
      </p:sp>
    </p:spTree>
    <p:extLst>
      <p:ext uri="{BB962C8B-B14F-4D97-AF65-F5344CB8AC3E}">
        <p14:creationId xmlns:p14="http://schemas.microsoft.com/office/powerpoint/2010/main" val="13063456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2026-10-03T17:53:43.3270000Z</dcterms:created>
  <dcterms:modified xsi:type="dcterms:W3CDTF">2026-10-03T17:53:43.3280000Z</dcterms:modified>
</coreProperties>
</file>