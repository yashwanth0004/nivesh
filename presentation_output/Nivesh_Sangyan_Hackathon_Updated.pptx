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7616e46a0bb4c7c" /><Relationship Type="http://schemas.openxmlformats.org/officeDocument/2006/relationships/extended-properties" Target="/docProps/app.xml" Id="R5623555fcddc4d8c" /><Relationship Type="http://schemas.openxmlformats.org/officeDocument/2006/relationships/officeDocument" Target="/ppt/presentation.xml" Id="Rc74392dac54f4128" /></Relationships>
</file>

<file path=ppt/presentation.xml><?xml version="1.0" encoding="utf-8"?>
<p:presentation xmlns:p="http://schemas.openxmlformats.org/presentationml/2006/main">
  <p:sldMasterIdLst>
    <p:sldMasterId xmlns:r="http://schemas.openxmlformats.org/officeDocument/2006/relationships" id="2147483648" r:id="R83d8ae6e66ca4ef1"/>
  </p:sldMasterIdLst>
  <p:notesMasterIdLst>
    <p:notesMasterId xmlns:r="http://schemas.openxmlformats.org/officeDocument/2006/relationships" r:id="R8bf56b42ffeb47f6"/>
  </p:notesMasterIdLst>
  <p:sldIdLst>
    <p:sldId xmlns:r="http://schemas.openxmlformats.org/officeDocument/2006/relationships" id="256" r:id="R9e451258fdaf4f0d"/>
    <p:sldId xmlns:r="http://schemas.openxmlformats.org/officeDocument/2006/relationships" id="257" r:id="R3e391a69cf7f4d89"/>
    <p:sldId xmlns:r="http://schemas.openxmlformats.org/officeDocument/2006/relationships" id="258" r:id="R0854835a672f4a68"/>
    <p:sldId xmlns:r="http://schemas.openxmlformats.org/officeDocument/2006/relationships" id="259" r:id="R355d26fd4a1745cc"/>
    <p:sldId xmlns:r="http://schemas.openxmlformats.org/officeDocument/2006/relationships" id="260" r:id="Rba5f7f16aefd49b8"/>
    <p:sldId xmlns:r="http://schemas.openxmlformats.org/officeDocument/2006/relationships" id="261" r:id="R57d24fc291604b2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2da715aa4774112" /><Relationship Type="http://schemas.openxmlformats.org/officeDocument/2006/relationships/slideMaster" Target="/ppt/slideMasters/slideMaster1.xml" Id="R83d8ae6e66ca4ef1" /><Relationship Type="http://schemas.openxmlformats.org/officeDocument/2006/relationships/notesMaster" Target="/ppt/notesMasters/notesMaster1.xml" Id="R8bf56b42ffeb47f6" /><Relationship Type="http://schemas.openxmlformats.org/officeDocument/2006/relationships/presProps" Target="/ppt/presProps.xml" Id="Re70a87bc46f44555" /><Relationship Type="http://schemas.openxmlformats.org/officeDocument/2006/relationships/tableStyles" Target="/ppt/tableStyles.xml" Id="Rea19a5584f3044c9" /><Relationship Type="http://schemas.openxmlformats.org/officeDocument/2006/relationships/slide" Target="/ppt/slides/slide1.xml" Id="R9e451258fdaf4f0d" /><Relationship Type="http://schemas.openxmlformats.org/officeDocument/2006/relationships/slide" Target="/ppt/slides/slide2.xml" Id="R3e391a69cf7f4d89" /><Relationship Type="http://schemas.openxmlformats.org/officeDocument/2006/relationships/slide" Target="/ppt/slides/slide3.xml" Id="R0854835a672f4a68" /><Relationship Type="http://schemas.openxmlformats.org/officeDocument/2006/relationships/slide" Target="/ppt/slides/slide4.xml" Id="R355d26fd4a1745cc" /><Relationship Type="http://schemas.openxmlformats.org/officeDocument/2006/relationships/slide" Target="/ppt/slides/slide5.xml" Id="Rba5f7f16aefd49b8" /><Relationship Type="http://schemas.openxmlformats.org/officeDocument/2006/relationships/slide" Target="/ppt/slides/slide6.xml" Id="R57d24fc291604b2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a26104c852b4f0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5807ea21fe14daa" /><Relationship Type="http://schemas.openxmlformats.org/officeDocument/2006/relationships/notesMaster" Target="/ppt/notesMasters/notesMaster1.xml" Id="R12f7895b9e714344" /></Relationships>
</file>

<file path=ppt/notesSlides/_rels/notesSlide2.xml.rels>&#65279;<?xml version="1.0" encoding="utf-8"?><Relationships xmlns="http://schemas.openxmlformats.org/package/2006/relationships"><Relationship Type="http://schemas.openxmlformats.org/officeDocument/2006/relationships/slide" Target="/ppt/slides/slide2.xml" Id="R79ca2a9a0883442f" /><Relationship Type="http://schemas.openxmlformats.org/officeDocument/2006/relationships/notesMaster" Target="/ppt/notesMasters/notesMaster1.xml" Id="R6bbc538b6f3f41ec" /></Relationships>
</file>

<file path=ppt/notesSlides/_rels/notesSlide3.xml.rels>&#65279;<?xml version="1.0" encoding="utf-8"?><Relationships xmlns="http://schemas.openxmlformats.org/package/2006/relationships"><Relationship Type="http://schemas.openxmlformats.org/officeDocument/2006/relationships/slide" Target="/ppt/slides/slide3.xml" Id="Ra2129685f60144d3" /><Relationship Type="http://schemas.openxmlformats.org/officeDocument/2006/relationships/notesMaster" Target="/ppt/notesMasters/notesMaster1.xml" Id="Rcbcb31cbee224a23" /></Relationships>
</file>

<file path=ppt/notesSlides/_rels/notesSlide4.xml.rels>&#65279;<?xml version="1.0" encoding="utf-8"?><Relationships xmlns="http://schemas.openxmlformats.org/package/2006/relationships"><Relationship Type="http://schemas.openxmlformats.org/officeDocument/2006/relationships/slide" Target="/ppt/slides/slide4.xml" Id="R121393f9f2b04705" /><Relationship Type="http://schemas.openxmlformats.org/officeDocument/2006/relationships/notesMaster" Target="/ppt/notesMasters/notesMaster1.xml" Id="Rc54b50dac6f74d81" /></Relationships>
</file>

<file path=ppt/notesSlides/_rels/notesSlide5.xml.rels>&#65279;<?xml version="1.0" encoding="utf-8"?><Relationships xmlns="http://schemas.openxmlformats.org/package/2006/relationships"><Relationship Type="http://schemas.openxmlformats.org/officeDocument/2006/relationships/slide" Target="/ppt/slides/slide5.xml" Id="Rbf425a5a760e4fbd" /><Relationship Type="http://schemas.openxmlformats.org/officeDocument/2006/relationships/notesMaster" Target="/ppt/notesMasters/notesMaster1.xml" Id="R4619e10878ab49ae" /></Relationships>
</file>

<file path=ppt/notesSlides/_rels/notesSlide6.xml.rels>&#65279;<?xml version="1.0" encoding="utf-8"?><Relationships xmlns="http://schemas.openxmlformats.org/package/2006/relationships"><Relationship Type="http://schemas.openxmlformats.org/officeDocument/2006/relationships/slide" Target="/ppt/slides/slide6.xml" Id="Ra176a5fb30be46f4" /><Relationship Type="http://schemas.openxmlformats.org/officeDocument/2006/relationships/notesMaster" Target="/ppt/notesMasters/notesMaster1.xml" Id="R57ac815d31a84d8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Cover slide for the Nivesh Sangyan Hackathon presentation. Team member names are reproduced as provided by the user.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Problem statement and approach are based on the requested project scope and current implementation. Technology names reflect the primary components used across the chatbot, fraud checker, simulator, speech and document retrieval features.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simulator supports normal, crash, high-volatility, fraud and leverage scenarios. It accepts virtual stocks and bonds, lump-sum or periodic unit purchases, a duration and run count, and can compare two combinations. Outputs include average, best and worst final values, percent of profitable runs, maximum loss measure and charts. All simulated values are illustrative and are not forecasts.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checker accepts text and optional username, image/PDF and voice transcript evidence. It combines model-assisted extraction, deterministic risk indicators, local SEBI database lookup, and configured domain matching. It returns registration, identity, URL, risk score and summary fields. Users should verify extracted details against original evidence and official 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Disclosure Reader accepts screenshots and PDFs of terms and conditions. It returns a plain-language summary, favorable points, red flags with explanations and, where available, page or clause references in the selected language. Qwen3-VL:8B handles visual document reading, PDF text extraction supplies selectable text, and repeat analyses can use the project cache. The output is informational and does not replace qualified legal advice.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Text responses support 22 Indic languages and English according to the project language map. The chatbot streams text and supports a stop action and optional speech. Local learning documents can be indexed and retrieved through BGE-M3 embeddings, ChromaDB and LangChain. gTTS and matching browser voices provide spoken answers only where that language is supported. The bot is scoped to general financial education.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fbf2bfa29d4406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7449dd95691406c" /><Relationship Type="http://schemas.openxmlformats.org/officeDocument/2006/relationships/slideLayout" Target="/ppt/slideLayouts/slideLayout1.xml" Id="R6f49a9a53e1f4cb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f49a9a53e1f4cb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012bf21be5844ff8" /><Relationship Type="http://schemas.openxmlformats.org/officeDocument/2006/relationships/notesSlide" Target="/ppt/notesSlides/notesSlide1.xml" Id="R8bf2cff5127644f7"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dc60ea9bae41487c" /><Relationship Type="http://schemas.openxmlformats.org/officeDocument/2006/relationships/notesSlide" Target="/ppt/notesSlides/notesSlide2.xml" Id="R60fd7b4e56094294"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84a3ee45852d468b" /><Relationship Type="http://schemas.openxmlformats.org/officeDocument/2006/relationships/notesSlide" Target="/ppt/notesSlides/notesSlide3.xml" Id="R2b1609d599a64dab"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66979ec0d08d4019" /><Relationship Type="http://schemas.openxmlformats.org/officeDocument/2006/relationships/notesSlide" Target="/ppt/notesSlides/notesSlide4.xml" Id="Rd3458362f36d44df"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57c3dcba8bb947d9" /><Relationship Type="http://schemas.openxmlformats.org/officeDocument/2006/relationships/notesSlide" Target="/ppt/notesSlides/notesSlide5.xml" Id="R30b33f6e47c64efd"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ed93fefcb1a6447c" /><Relationship Type="http://schemas.openxmlformats.org/officeDocument/2006/relationships/notesSlide" Target="/ppt/notesSlides/notesSlide6.xml" Id="R528a31de713b4a13" /></Relationships>
</file>

<file path=ppt/slides/slide1.xml><?xml version="1.0" encoding="utf-8"?>
<p:sld xmlns:p="http://schemas.openxmlformats.org/presentationml/2006/main">
  <p:cSld>
    <p:bg>
      <p:bgPr>
        <a:solidFill xmlns:a="http://schemas.openxmlformats.org/drawingml/2006/main">
          <a:srgbClr val="122B3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E765E9B-02BB-45C4-B492-AD05B6C44F40}"/>
              </a:ext>
            </a:extLst>
          </p:cNvPr>
          <p:cNvSpPr>
            <a:spLocks xmlns:a="http://schemas.openxmlformats.org/drawingml/2006/main" noGrp="1"/>
          </p:cNvSpPr>
          <p:nvPr/>
        </p:nvSpPr>
        <p:spPr>
          <a:xfrm xmlns:a="http://schemas.openxmlformats.org/drawingml/2006/main">
            <a:off x="1143000" y="1009650"/>
            <a:ext cx="99060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buNone/>
              <a:defRPr sz="4800" b="1">
                <a:solidFill>
                  <a:srgbClr val="E6B75D"/>
                </a:solidFill>
                <a:latin typeface="Arial"/>
                <a:ea typeface="Arial"/>
                <a:cs typeface="Arial"/>
              </a:defRPr>
            </a:pPr>
            <a:r>
              <a:rPr sz="4800" b="1">
                <a:solidFill>
                  <a:srgbClr val="E6B75D"/>
                </a:solidFill>
                <a:latin typeface="Arial"/>
                <a:ea typeface="Arial"/>
                <a:cs typeface="Arial"/>
              </a:rPr>
              <a:t>SANGYAN HACKATHON</a:t>
            </a:r>
          </a:p>
        </p:txBody>
      </p:sp>
      <p:sp>
        <p:nvSpPr>
          <p:cNvPr id="2" name="">
            <a:extLst xmlns:a="http://schemas.openxmlformats.org/drawingml/2006/main">
              <a:ext uri="{FF2B5EF4-FFF2-40B4-BE49-F238E27FC236}">
                <a16:creationId xmlns:a16="http://schemas.microsoft.com/office/drawing/2014/main" id="{46E5176C-C8AB-42EC-9CA2-EECD42CE860E}"/>
              </a:ext>
            </a:extLst>
          </p:cNvPr>
          <p:cNvSpPr>
            <a:spLocks xmlns:a="http://schemas.openxmlformats.org/drawingml/2006/main" noGrp="1"/>
          </p:cNvSpPr>
          <p:nvPr/>
        </p:nvSpPr>
        <p:spPr>
          <a:xfrm xmlns:a="http://schemas.openxmlformats.org/drawingml/2006/main">
            <a:off x="2762250" y="1924050"/>
            <a:ext cx="6667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90000"/>
              </a:lnSpc>
              <a:buNone/>
              <a:defRPr sz="3225" b="1">
                <a:solidFill>
                  <a:srgbClr val="FFFDF8"/>
                </a:solidFill>
                <a:latin typeface="Arial"/>
                <a:ea typeface="Arial"/>
                <a:cs typeface="Arial"/>
              </a:defRPr>
            </a:pPr>
            <a:r>
              <a:rPr sz="3225" b="1">
                <a:solidFill>
                  <a:srgbClr val="FFFDF8"/>
                </a:solidFill>
                <a:latin typeface="Arial"/>
                <a:ea typeface="Arial"/>
                <a:cs typeface="Arial"/>
              </a:rPr>
              <a:t>Nivesh</a:t>
            </a:r>
          </a:p>
        </p:txBody>
      </p:sp>
      <p:sp>
        <p:nvSpPr>
          <p:cNvPr id="3" name="">
            <a:extLst xmlns:a="http://schemas.openxmlformats.org/drawingml/2006/main">
              <a:ext uri="{FF2B5EF4-FFF2-40B4-BE49-F238E27FC236}">
                <a16:creationId xmlns:a16="http://schemas.microsoft.com/office/drawing/2014/main" id="{B2BD1626-A090-4AE7-97D1-80A733212047}"/>
              </a:ext>
            </a:extLst>
          </p:cNvPr>
          <p:cNvSpPr>
            <a:spLocks xmlns:a="http://schemas.openxmlformats.org/drawingml/2006/main" noGrp="1"/>
          </p:cNvSpPr>
          <p:nvPr/>
        </p:nvSpPr>
        <p:spPr>
          <a:xfrm xmlns:a="http://schemas.openxmlformats.org/drawingml/2006/main">
            <a:off x="1428750" y="2800350"/>
            <a:ext cx="9334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91667"/>
          </a:bodyPr>
          <a:lstStyle xmlns:a="http://schemas.openxmlformats.org/drawingml/2006/main"/>
          <a:p xmlns:a="http://schemas.openxmlformats.org/drawingml/2006/main">
            <a:pPr algn="ctr">
              <a:buNone/>
              <a:defRPr sz="1875">
                <a:solidFill>
                  <a:srgbClr val="E8E0D1"/>
                </a:solidFill>
                <a:latin typeface="Arial"/>
                <a:ea typeface="Arial"/>
                <a:cs typeface="Arial"/>
              </a:defRPr>
            </a:pPr>
            <a:r>
              <a:rPr sz="1875">
                <a:solidFill>
                  <a:srgbClr val="E8E0D1"/>
                </a:solidFill>
                <a:latin typeface="Arial"/>
                <a:ea typeface="Arial"/>
                <a:cs typeface="Arial"/>
              </a:rPr>
              <a:t>Practice investment scenarios. Check suspicious offers. Understand disclosures in your language.</a:t>
            </a:r>
          </a:p>
        </p:txBody>
      </p:sp>
      <p:sp>
        <p:nvSpPr>
          <p:cNvPr id="4" name="">
            <a:extLst xmlns:a="http://schemas.openxmlformats.org/drawingml/2006/main">
              <a:ext uri="{FF2B5EF4-FFF2-40B4-BE49-F238E27FC236}">
                <a16:creationId xmlns:a16="http://schemas.microsoft.com/office/drawing/2014/main" id="{509EB5FC-CAD8-4105-A9DD-1ABCB91F480C}"/>
              </a:ext>
            </a:extLst>
          </p:cNvPr>
          <p:cNvSpPr>
            <a:spLocks xmlns:a="http://schemas.openxmlformats.org/drawingml/2006/main" noGrp="1"/>
          </p:cNvSpPr>
          <p:nvPr/>
        </p:nvSpPr>
        <p:spPr>
          <a:xfrm xmlns:a="http://schemas.openxmlformats.org/drawingml/2006/main">
            <a:off x="1952625" y="3371850"/>
            <a:ext cx="8286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10000"/>
              </a:lnSpc>
              <a:buNone/>
              <a:defRPr sz="1575">
                <a:solidFill>
                  <a:srgbClr val="B8C8CA"/>
                </a:solidFill>
                <a:latin typeface="Arial"/>
                <a:ea typeface="Arial"/>
                <a:cs typeface="Arial"/>
              </a:defRPr>
            </a:pPr>
            <a:r>
              <a:rPr sz="1575">
                <a:solidFill>
                  <a:srgbClr val="B8C8CA"/>
                </a:solidFill>
                <a:latin typeface="Arial"/>
                <a:ea typeface="Arial"/>
                <a:cs typeface="Arial"/>
              </a:rPr>
              <a:t>Four tools help new investors explore possible outcomes, review claims, read financial disclosures, and ask questions in a familiar language.</a:t>
            </a:r>
          </a:p>
        </p:txBody>
      </p:sp>
      <p:sp>
        <p:nvSpPr>
          <p:cNvPr id="5" name="">
            <a:extLst xmlns:a="http://schemas.openxmlformats.org/drawingml/2006/main">
              <a:ext uri="{FF2B5EF4-FFF2-40B4-BE49-F238E27FC236}">
                <a16:creationId xmlns:a16="http://schemas.microsoft.com/office/drawing/2014/main" id="{4FD3DABF-41AA-428A-A216-798B6FAA51EB}"/>
              </a:ext>
            </a:extLst>
          </p:cNvPr>
          <p:cNvSpPr>
            <a:spLocks xmlns:a="http://schemas.openxmlformats.org/drawingml/2006/main" noGrp="1"/>
          </p:cNvSpPr>
          <p:nvPr/>
        </p:nvSpPr>
        <p:spPr>
          <a:xfrm xmlns:a="http://schemas.openxmlformats.org/drawingml/2006/main">
            <a:off x="3810000" y="4591050"/>
            <a:ext cx="4572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1200" b="1">
                <a:solidFill>
                  <a:srgbClr val="E6B75D"/>
                </a:solidFill>
                <a:latin typeface="Arial"/>
                <a:ea typeface="Arial"/>
                <a:cs typeface="Arial"/>
              </a:defRPr>
            </a:pPr>
            <a:r>
              <a:rPr sz="1200" b="1">
                <a:solidFill>
                  <a:srgbClr val="E6B75D"/>
                </a:solidFill>
                <a:latin typeface="Arial"/>
                <a:ea typeface="Arial"/>
                <a:cs typeface="Arial"/>
              </a:rPr>
              <a:t>TEAM</a:t>
            </a:r>
          </a:p>
        </p:txBody>
      </p:sp>
      <p:sp>
        <p:nvSpPr>
          <p:cNvPr id="6" name="">
            <a:extLst xmlns:a="http://schemas.openxmlformats.org/drawingml/2006/main">
              <a:ext uri="{FF2B5EF4-FFF2-40B4-BE49-F238E27FC236}">
                <a16:creationId xmlns:a16="http://schemas.microsoft.com/office/drawing/2014/main" id="{B4660A57-DFD4-4FD4-8B1A-E824A1563B71}"/>
              </a:ext>
            </a:extLst>
          </p:cNvPr>
          <p:cNvSpPr>
            <a:spLocks xmlns:a="http://schemas.openxmlformats.org/drawingml/2006/main" noGrp="1"/>
          </p:cNvSpPr>
          <p:nvPr/>
        </p:nvSpPr>
        <p:spPr>
          <a:xfrm xmlns:a="http://schemas.openxmlformats.org/drawingml/2006/main">
            <a:off x="2190750" y="4943475"/>
            <a:ext cx="7810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20000"/>
              </a:lnSpc>
              <a:buNone/>
              <a:defRPr sz="1800">
                <a:solidFill>
                  <a:srgbClr val="FFFDF8"/>
                </a:solidFill>
                <a:latin typeface="Arial"/>
                <a:ea typeface="Arial"/>
                <a:cs typeface="Arial"/>
              </a:defRPr>
            </a:pPr>
            <a:r>
              <a:rPr sz="1800">
                <a:solidFill>
                  <a:srgbClr val="FFFDF8"/>
                </a:solidFill>
                <a:latin typeface="Arial"/>
                <a:ea typeface="Arial"/>
                <a:cs typeface="Arial"/>
              </a:rPr>
              <a:t>Sai Kiran       Bala Eswar</a:t>
            </a:r>
          </a:p>
          <a:p xmlns:a="http://schemas.openxmlformats.org/drawingml/2006/main">
            <a:pPr algn="ctr">
              <a:lnSpc>
                <a:spcPct val="120000"/>
              </a:lnSpc>
              <a:buNone/>
              <a:defRPr sz="1800">
                <a:solidFill>
                  <a:srgbClr val="FFFDF8"/>
                </a:solidFill>
                <a:latin typeface="Arial"/>
                <a:ea typeface="Arial"/>
                <a:cs typeface="Arial"/>
              </a:defRPr>
            </a:pPr>
            <a:r>
              <a:rPr sz="1800">
                <a:solidFill>
                  <a:srgbClr val="FFFDF8"/>
                </a:solidFill>
                <a:latin typeface="Arial"/>
                <a:ea typeface="Arial"/>
                <a:cs typeface="Arial"/>
              </a:rPr>
              <a:t>Kirtan Sai       Yashwanth Royal</a:t>
            </a:r>
          </a:p>
        </p:txBody>
      </p:sp>
      <p:sp>
        <p:nvSpPr>
          <p:cNvPr id="7" name="">
            <a:extLst xmlns:a="http://schemas.openxmlformats.org/drawingml/2006/main">
              <a:ext uri="{FF2B5EF4-FFF2-40B4-BE49-F238E27FC236}">
                <a16:creationId xmlns:a16="http://schemas.microsoft.com/office/drawing/2014/main" id="{B287C441-B7D7-429A-8CF3-6613E7B9897D}"/>
              </a:ext>
            </a:extLst>
          </p:cNvPr>
          <p:cNvSpPr>
            <a:spLocks xmlns:a="http://schemas.openxmlformats.org/drawingml/2006/main" noGrp="1"/>
          </p:cNvSpPr>
          <p:nvPr/>
        </p:nvSpPr>
        <p:spPr>
          <a:xfrm xmlns:a="http://schemas.openxmlformats.org/drawingml/2006/main">
            <a:off x="2571750" y="6400800"/>
            <a:ext cx="7048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1125" b="1">
                <a:solidFill>
                  <a:srgbClr val="B8C8CA"/>
                </a:solidFill>
                <a:latin typeface="Arial"/>
                <a:ea typeface="Arial"/>
                <a:cs typeface="Arial"/>
              </a:defRPr>
            </a:pPr>
            <a:r>
              <a:rPr sz="1125" b="1">
                <a:solidFill>
                  <a:srgbClr val="B8C8CA"/>
                </a:solidFill>
                <a:latin typeface="Arial"/>
                <a:ea typeface="Arial"/>
                <a:cs typeface="Arial"/>
              </a:rPr>
              <a:t>Financial education, scam screening, and language access</a:t>
            </a:r>
          </a:p>
        </p:txBody>
      </p:sp>
    </p:spTree>
    <p:extLst>
      <p:ext uri="{BB962C8B-B14F-4D97-AF65-F5344CB8AC3E}">
        <p14:creationId xmlns:p14="http://schemas.microsoft.com/office/powerpoint/2010/main" val="464272514"/>
      </p:ext>
    </p:extLst>
  </p:cSld>
</p:sld>
</file>

<file path=ppt/slides/slide2.xml><?xml version="1.0" encoding="utf-8"?>
<p:sld xmlns:p="http://schemas.openxmlformats.org/presentationml/2006/main">
  <p:cSld>
    <p:bg>
      <p:bgPr>
        <a:solidFill xmlns:a="http://schemas.openxmlformats.org/drawingml/2006/main">
          <a:srgbClr val="F6F0E5"/>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948DE805-B9C1-4C20-B467-40BBD26EEA33}"/>
              </a:ext>
            </a:extLst>
          </p:cNvPr>
          <p:cNvSpPr>
            <a:spLocks xmlns:a="http://schemas.openxmlformats.org/drawingml/2006/main" noGrp="1"/>
          </p:cNvSpPr>
          <p:nvPr/>
        </p:nvSpPr>
        <p:spPr>
          <a:xfrm xmlns:a="http://schemas.openxmlformats.org/drawingml/2006/main">
            <a:off x="685800" y="333375"/>
            <a:ext cx="1066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5000"/>
          </a:bodyPr>
          <a:lstStyle xmlns:a="http://schemas.openxmlformats.org/drawingml/2006/main"/>
          <a:p xmlns:a="http://schemas.openxmlformats.org/drawingml/2006/main">
            <a:pPr>
              <a:buNone/>
              <a:defRPr sz="1200" b="1">
                <a:solidFill>
                  <a:srgbClr val="C55F43"/>
                </a:solidFill>
                <a:latin typeface="Arial"/>
                <a:ea typeface="Arial"/>
                <a:cs typeface="Arial"/>
              </a:defRPr>
            </a:pPr>
            <a:r>
              <a:rPr sz="1200" b="1">
                <a:solidFill>
                  <a:srgbClr val="C55F43"/>
                </a:solidFill>
                <a:latin typeface="Arial"/>
                <a:ea typeface="Arial"/>
                <a:cs typeface="Arial"/>
              </a:rPr>
              <a:t>SANGYAN HACKATHON     /     02     PROBLEM AND APPROACH</a:t>
            </a:r>
          </a:p>
        </p:txBody>
      </p:sp>
      <p:sp>
        <p:nvSpPr>
          <p:cNvPr id="2" name="">
            <a:extLst xmlns:a="http://schemas.openxmlformats.org/drawingml/2006/main">
              <a:ext uri="{FF2B5EF4-FFF2-40B4-BE49-F238E27FC236}">
                <a16:creationId xmlns:a16="http://schemas.microsoft.com/office/drawing/2014/main" id="{CEF268D8-6773-46DD-8151-67CC3F5B3FE5}"/>
              </a:ext>
            </a:extLst>
          </p:cNvPr>
          <p:cNvSpPr>
            <a:spLocks xmlns:a="http://schemas.openxmlformats.org/drawingml/2006/main" noGrp="1"/>
          </p:cNvSpPr>
          <p:nvPr/>
        </p:nvSpPr>
        <p:spPr>
          <a:xfrm xmlns:a="http://schemas.openxmlformats.org/drawingml/2006/main">
            <a:off x="685800" y="714375"/>
            <a:ext cx="105727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2708"/>
          </a:bodyPr>
          <a:lstStyle xmlns:a="http://schemas.openxmlformats.org/drawingml/2006/main"/>
          <a:p xmlns:a="http://schemas.openxmlformats.org/drawingml/2006/main">
            <a:pPr>
              <a:buNone/>
              <a:defRPr sz="3600" b="1">
                <a:solidFill>
                  <a:srgbClr val="18364A"/>
                </a:solidFill>
                <a:latin typeface="Arial"/>
                <a:ea typeface="Arial"/>
                <a:cs typeface="Arial"/>
              </a:defRPr>
            </a:pPr>
            <a:r>
              <a:rPr sz="3600" b="1">
                <a:solidFill>
                  <a:srgbClr val="18364A"/>
                </a:solidFill>
                <a:latin typeface="Arial"/>
                <a:ea typeface="Arial"/>
                <a:cs typeface="Arial"/>
              </a:rPr>
              <a:t>Why Nivesh</a:t>
            </a:r>
          </a:p>
        </p:txBody>
      </p:sp>
      <p:sp>
        <p:nvSpPr>
          <p:cNvPr id="3" name="">
            <a:extLst xmlns:a="http://schemas.openxmlformats.org/drawingml/2006/main">
              <a:ext uri="{FF2B5EF4-FFF2-40B4-BE49-F238E27FC236}">
                <a16:creationId xmlns:a16="http://schemas.microsoft.com/office/drawing/2014/main" id="{5382F1C1-492D-4C96-9884-191E7F885DAD}"/>
              </a:ext>
            </a:extLst>
          </p:cNvPr>
          <p:cNvSpPr>
            <a:spLocks xmlns:a="http://schemas.openxmlformats.org/drawingml/2006/main" noGrp="1"/>
          </p:cNvSpPr>
          <p:nvPr/>
        </p:nvSpPr>
        <p:spPr>
          <a:xfrm xmlns:a="http://schemas.openxmlformats.org/drawingml/2006/main">
            <a:off x="723900" y="1400175"/>
            <a:ext cx="10572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buNone/>
              <a:defRPr sz="1875">
                <a:solidFill>
                  <a:srgbClr val="637783"/>
                </a:solidFill>
                <a:latin typeface="Arial"/>
                <a:ea typeface="Arial"/>
                <a:cs typeface="Arial"/>
              </a:defRPr>
            </a:pPr>
            <a:r>
              <a:rPr sz="1875">
                <a:solidFill>
                  <a:srgbClr val="637783"/>
                </a:solidFill>
                <a:latin typeface="Arial"/>
                <a:ea typeface="Arial"/>
                <a:cs typeface="Arial"/>
              </a:rPr>
              <a:t>First-time investors often have to make sense of risk and trust before they feel ready to act.</a:t>
            </a:r>
          </a:p>
        </p:txBody>
      </p:sp>
      <p:sp>
        <p:nvSpPr>
          <p:cNvPr id="4" name="">
            <a:extLst xmlns:a="http://schemas.openxmlformats.org/drawingml/2006/main">
              <a:ext uri="{FF2B5EF4-FFF2-40B4-BE49-F238E27FC236}">
                <a16:creationId xmlns:a16="http://schemas.microsoft.com/office/drawing/2014/main" id="{AE062036-D935-439F-A4A2-C362093FFC39}"/>
              </a:ext>
            </a:extLst>
          </p:cNvPr>
          <p:cNvSpPr>
            <a:spLocks xmlns:a="http://schemas.openxmlformats.org/drawingml/2006/main" noGrp="1"/>
          </p:cNvSpPr>
          <p:nvPr/>
        </p:nvSpPr>
        <p:spPr>
          <a:xfrm xmlns:a="http://schemas.openxmlformats.org/drawingml/2006/main">
            <a:off x="742950" y="2266950"/>
            <a:ext cx="4905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0208"/>
          </a:bodyPr>
          <a:lstStyle xmlns:a="http://schemas.openxmlformats.org/drawingml/2006/main"/>
          <a:p xmlns:a="http://schemas.openxmlformats.org/drawingml/2006/main">
            <a:pPr>
              <a:buNone/>
              <a:defRPr sz="1200" b="1">
                <a:solidFill>
                  <a:srgbClr val="C55F43"/>
                </a:solidFill>
                <a:latin typeface="Arial"/>
                <a:ea typeface="Arial"/>
                <a:cs typeface="Arial"/>
              </a:defRPr>
            </a:pPr>
            <a:r>
              <a:rPr sz="1200" b="1">
                <a:solidFill>
                  <a:srgbClr val="C55F43"/>
                </a:solidFill>
                <a:latin typeface="Arial"/>
                <a:ea typeface="Arial"/>
                <a:cs typeface="Arial"/>
              </a:rPr>
              <a:t>THE PROBLEM</a:t>
            </a:r>
          </a:p>
        </p:txBody>
      </p:sp>
      <p:sp>
        <p:nvSpPr>
          <p:cNvPr id="5" name="">
            <a:extLst xmlns:a="http://schemas.openxmlformats.org/drawingml/2006/main">
              <a:ext uri="{FF2B5EF4-FFF2-40B4-BE49-F238E27FC236}">
                <a16:creationId xmlns:a16="http://schemas.microsoft.com/office/drawing/2014/main" id="{96BBFE6A-89F8-47FE-B182-EF6DD1BC83C1}"/>
              </a:ext>
            </a:extLst>
          </p:cNvPr>
          <p:cNvSpPr>
            <a:spLocks xmlns:a="http://schemas.openxmlformats.org/drawingml/2006/main" noGrp="1"/>
          </p:cNvSpPr>
          <p:nvPr/>
        </p:nvSpPr>
        <p:spPr>
          <a:xfrm xmlns:a="http://schemas.openxmlformats.org/drawingml/2006/main">
            <a:off x="742950" y="2647950"/>
            <a:ext cx="4905375" cy="2076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nSpc>
                <a:spcPct val="113000"/>
              </a:lnSpc>
              <a:buNone/>
              <a:defRPr sz="1650">
                <a:solidFill>
                  <a:srgbClr val="18364A"/>
                </a:solidFill>
                <a:latin typeface="Arial"/>
                <a:ea typeface="Arial"/>
                <a:cs typeface="Arial"/>
              </a:defRPr>
            </a:pPr>
            <a:r>
              <a:rPr sz="1650">
                <a:solidFill>
                  <a:srgbClr val="18364A"/>
                </a:solidFill>
                <a:latin typeface="Arial"/>
                <a:ea typeface="Arial"/>
                <a:cs typeface="Arial"/>
              </a:rPr>
              <a:t>Risk is hard to picture before money is invested. Scam messages can borrow real company names, registration details, and familiar-looking URLs. Long financial disclosures can hide important fees, limits, and risks in unfamiliar language. New investors need a clear way to practise, check, and understand before deciding.</a:t>
            </a:r>
          </a:p>
        </p:txBody>
      </p:sp>
      <p:sp>
        <p:nvSpPr>
          <p:cNvPr id="6" name="">
            <a:extLst xmlns:a="http://schemas.openxmlformats.org/drawingml/2006/main">
              <a:ext uri="{FF2B5EF4-FFF2-40B4-BE49-F238E27FC236}">
                <a16:creationId xmlns:a16="http://schemas.microsoft.com/office/drawing/2014/main" id="{5A632D23-170D-499D-9D89-B817C79A9395}"/>
              </a:ext>
            </a:extLst>
          </p:cNvPr>
          <p:cNvSpPr>
            <a:spLocks xmlns:a="http://schemas.openxmlformats.org/drawingml/2006/main" noGrp="1"/>
          </p:cNvSpPr>
          <p:nvPr/>
        </p:nvSpPr>
        <p:spPr>
          <a:xfrm xmlns:a="http://schemas.openxmlformats.org/drawingml/2006/main">
            <a:off x="742950" y="4924425"/>
            <a:ext cx="4905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0208"/>
          </a:bodyPr>
          <a:lstStyle xmlns:a="http://schemas.openxmlformats.org/drawingml/2006/main"/>
          <a:p xmlns:a="http://schemas.openxmlformats.org/drawingml/2006/main">
            <a:pPr>
              <a:buNone/>
              <a:defRPr sz="1200" b="1">
                <a:solidFill>
                  <a:srgbClr val="397C75"/>
                </a:solidFill>
                <a:latin typeface="Arial"/>
                <a:ea typeface="Arial"/>
                <a:cs typeface="Arial"/>
              </a:defRPr>
            </a:pPr>
            <a:r>
              <a:rPr sz="1200" b="1">
                <a:solidFill>
                  <a:srgbClr val="397C75"/>
                </a:solidFill>
                <a:latin typeface="Arial"/>
                <a:ea typeface="Arial"/>
                <a:cs typeface="Arial"/>
              </a:rPr>
              <a:t>OUR APPROACH</a:t>
            </a:r>
          </a:p>
        </p:txBody>
      </p:sp>
      <p:sp>
        <p:nvSpPr>
          <p:cNvPr id="7" name="">
            <a:extLst xmlns:a="http://schemas.openxmlformats.org/drawingml/2006/main">
              <a:ext uri="{FF2B5EF4-FFF2-40B4-BE49-F238E27FC236}">
                <a16:creationId xmlns:a16="http://schemas.microsoft.com/office/drawing/2014/main" id="{9C6A6408-834E-40E0-B54A-19CB77821EBD}"/>
              </a:ext>
            </a:extLst>
          </p:cNvPr>
          <p:cNvSpPr>
            <a:spLocks xmlns:a="http://schemas.openxmlformats.org/drawingml/2006/main" noGrp="1"/>
          </p:cNvSpPr>
          <p:nvPr/>
        </p:nvSpPr>
        <p:spPr>
          <a:xfrm xmlns:a="http://schemas.openxmlformats.org/drawingml/2006/main">
            <a:off x="742950" y="5257800"/>
            <a:ext cx="490537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79201"/>
          </a:bodyPr>
          <a:lstStyle xmlns:a="http://schemas.openxmlformats.org/drawingml/2006/main"/>
          <a:p xmlns:a="http://schemas.openxmlformats.org/drawingml/2006/main">
            <a:pPr>
              <a:lnSpc>
                <a:spcPct val="110000"/>
              </a:lnSpc>
              <a:buNone/>
              <a:defRPr sz="1650" b="1">
                <a:solidFill>
                  <a:srgbClr val="18364A"/>
                </a:solidFill>
                <a:latin typeface="Arial"/>
                <a:ea typeface="Arial"/>
                <a:cs typeface="Arial"/>
              </a:defRPr>
            </a:pPr>
            <a:r>
              <a:rPr sz="1650" b="1">
                <a:solidFill>
                  <a:srgbClr val="18364A"/>
                </a:solidFill>
                <a:latin typeface="Arial"/>
                <a:ea typeface="Arial"/>
                <a:cs typeface="Arial"/>
              </a:rPr>
              <a:t>Nivesh gives new investors four ways to prepare: practise without real money, screen suspicious claims, understand disclosure documents, and ask questions in a familiar language.</a:t>
            </a:r>
          </a:p>
        </p:txBody>
      </p:sp>
      <p:sp>
        <p:nvSpPr>
          <p:cNvPr id="8" name="">
            <a:extLst xmlns:a="http://schemas.openxmlformats.org/drawingml/2006/main">
              <a:ext uri="{FF2B5EF4-FFF2-40B4-BE49-F238E27FC236}">
                <a16:creationId xmlns:a16="http://schemas.microsoft.com/office/drawing/2014/main" id="{0A6D31B0-F9F9-4F85-88C7-58159219515E}"/>
              </a:ext>
            </a:extLst>
          </p:cNvPr>
          <p:cNvSpPr>
            <a:spLocks xmlns:a="http://schemas.openxmlformats.org/drawingml/2006/main" noGrp="1"/>
          </p:cNvSpPr>
          <p:nvPr/>
        </p:nvSpPr>
        <p:spPr>
          <a:xfrm xmlns:a="http://schemas.openxmlformats.org/drawingml/2006/main">
            <a:off x="6353175" y="2266950"/>
            <a:ext cx="5095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0208"/>
          </a:bodyPr>
          <a:lstStyle xmlns:a="http://schemas.openxmlformats.org/drawingml/2006/main"/>
          <a:p xmlns:a="http://schemas.openxmlformats.org/drawingml/2006/main">
            <a:pPr>
              <a:buNone/>
              <a:defRPr sz="1200" b="1">
                <a:solidFill>
                  <a:srgbClr val="C55F43"/>
                </a:solidFill>
                <a:latin typeface="Arial"/>
                <a:ea typeface="Arial"/>
                <a:cs typeface="Arial"/>
              </a:defRPr>
            </a:pPr>
            <a:r>
              <a:rPr sz="1200" b="1">
                <a:solidFill>
                  <a:srgbClr val="C55F43"/>
                </a:solidFill>
                <a:latin typeface="Arial"/>
                <a:ea typeface="Arial"/>
                <a:cs typeface="Arial"/>
              </a:rPr>
              <a:t>KEY TECHNOLOGIES</a:t>
            </a:r>
          </a:p>
        </p:txBody>
      </p:sp>
      <p:sp>
        <p:nvSpPr>
          <p:cNvPr id="9" name="">
            <a:extLst xmlns:a="http://schemas.openxmlformats.org/drawingml/2006/main">
              <a:ext uri="{FF2B5EF4-FFF2-40B4-BE49-F238E27FC236}">
                <a16:creationId xmlns:a16="http://schemas.microsoft.com/office/drawing/2014/main" id="{9CE4AC65-2091-4462-ABFA-1347EB6CB9A0}"/>
              </a:ext>
            </a:extLst>
          </p:cNvPr>
          <p:cNvSpPr>
            <a:spLocks xmlns:a="http://schemas.openxmlformats.org/drawingml/2006/main" noGrp="1"/>
          </p:cNvSpPr>
          <p:nvPr/>
        </p:nvSpPr>
        <p:spPr>
          <a:xfrm xmlns:a="http://schemas.openxmlformats.org/drawingml/2006/main">
            <a:off x="6353175" y="2647950"/>
            <a:ext cx="1571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8333"/>
          </a:bodyPr>
          <a:lstStyle xmlns:a="http://schemas.openxmlformats.org/drawingml/2006/main"/>
          <a:p xmlns:a="http://schemas.openxmlformats.org/drawingml/2006/main">
            <a:pPr>
              <a:buNone/>
              <a:defRPr sz="1500" b="1">
                <a:solidFill>
                  <a:srgbClr val="18364A"/>
                </a:solidFill>
                <a:latin typeface="Arial"/>
                <a:ea typeface="Arial"/>
                <a:cs typeface="Arial"/>
              </a:defRPr>
            </a:pPr>
            <a:r>
              <a:rPr sz="1500" b="1">
                <a:solidFill>
                  <a:srgbClr val="18364A"/>
                </a:solidFill>
                <a:latin typeface="Arial"/>
                <a:ea typeface="Arial"/>
                <a:cs typeface="Arial"/>
              </a:rPr>
              <a:t>AI models</a:t>
            </a:r>
          </a:p>
        </p:txBody>
      </p:sp>
      <p:sp>
        <p:nvSpPr>
          <p:cNvPr id="10" name="">
            <a:extLst xmlns:a="http://schemas.openxmlformats.org/drawingml/2006/main">
              <a:ext uri="{FF2B5EF4-FFF2-40B4-BE49-F238E27FC236}">
                <a16:creationId xmlns:a16="http://schemas.microsoft.com/office/drawing/2014/main" id="{C76EC4B3-228B-4504-AB3C-86B10384E534}"/>
              </a:ext>
            </a:extLst>
          </p:cNvPr>
          <p:cNvSpPr>
            <a:spLocks xmlns:a="http://schemas.openxmlformats.org/drawingml/2006/main" noGrp="1"/>
          </p:cNvSpPr>
          <p:nvPr/>
        </p:nvSpPr>
        <p:spPr>
          <a:xfrm xmlns:a="http://schemas.openxmlformats.org/drawingml/2006/main">
            <a:off x="7972425" y="2647950"/>
            <a:ext cx="347662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62"/>
          </a:bodyPr>
          <a:lstStyle xmlns:a="http://schemas.openxmlformats.org/drawingml/2006/main"/>
          <a:p xmlns:a="http://schemas.openxmlformats.org/drawingml/2006/main">
            <a:pPr>
              <a:lnSpc>
                <a:spcPct val="104000"/>
              </a:lnSpc>
              <a:buNone/>
              <a:defRPr sz="1500">
                <a:solidFill>
                  <a:srgbClr val="29485A"/>
                </a:solidFill>
                <a:latin typeface="Arial"/>
                <a:ea typeface="Arial"/>
                <a:cs typeface="Arial"/>
              </a:defRPr>
            </a:pPr>
            <a:r>
              <a:rPr sz="1500">
                <a:solidFill>
                  <a:srgbClr val="29485A"/>
                </a:solidFill>
                <a:latin typeface="Arial"/>
                <a:ea typeface="Arial"/>
                <a:cs typeface="Arial"/>
              </a:rPr>
              <a:t>Qwen3:8B for chat; Qwen3-VL:8B for image and document review, through Ollama.</a:t>
            </a:r>
          </a:p>
        </p:txBody>
      </p:sp>
      <p:sp>
        <p:nvSpPr>
          <p:cNvPr id="11" name="">
            <a:extLst xmlns:a="http://schemas.openxmlformats.org/drawingml/2006/main">
              <a:ext uri="{FF2B5EF4-FFF2-40B4-BE49-F238E27FC236}">
                <a16:creationId xmlns:a16="http://schemas.microsoft.com/office/drawing/2014/main" id="{021D59FA-F58C-45F3-A05D-6C9B1F620082}"/>
              </a:ext>
            </a:extLst>
          </p:cNvPr>
          <p:cNvSpPr>
            <a:spLocks xmlns:a="http://schemas.openxmlformats.org/drawingml/2006/main" noGrp="1"/>
          </p:cNvSpPr>
          <p:nvPr/>
        </p:nvSpPr>
        <p:spPr>
          <a:xfrm xmlns:a="http://schemas.openxmlformats.org/drawingml/2006/main">
            <a:off x="6353175" y="3448050"/>
            <a:ext cx="1571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8333"/>
          </a:bodyPr>
          <a:lstStyle xmlns:a="http://schemas.openxmlformats.org/drawingml/2006/main"/>
          <a:p xmlns:a="http://schemas.openxmlformats.org/drawingml/2006/main">
            <a:pPr>
              <a:buNone/>
              <a:defRPr sz="1500" b="1">
                <a:solidFill>
                  <a:srgbClr val="18364A"/>
                </a:solidFill>
                <a:latin typeface="Arial"/>
                <a:ea typeface="Arial"/>
                <a:cs typeface="Arial"/>
              </a:defRPr>
            </a:pPr>
            <a:r>
              <a:rPr sz="1500" b="1">
                <a:solidFill>
                  <a:srgbClr val="18364A"/>
                </a:solidFill>
                <a:latin typeface="Arial"/>
                <a:ea typeface="Arial"/>
                <a:cs typeface="Arial"/>
              </a:rPr>
              <a:t>Voice</a:t>
            </a:r>
          </a:p>
        </p:txBody>
      </p:sp>
      <p:sp>
        <p:nvSpPr>
          <p:cNvPr id="12" name="">
            <a:extLst xmlns:a="http://schemas.openxmlformats.org/drawingml/2006/main">
              <a:ext uri="{FF2B5EF4-FFF2-40B4-BE49-F238E27FC236}">
                <a16:creationId xmlns:a16="http://schemas.microsoft.com/office/drawing/2014/main" id="{49677351-3475-4AC7-B144-3523FC92E3EB}"/>
              </a:ext>
            </a:extLst>
          </p:cNvPr>
          <p:cNvSpPr>
            <a:spLocks xmlns:a="http://schemas.openxmlformats.org/drawingml/2006/main" noGrp="1"/>
          </p:cNvSpPr>
          <p:nvPr/>
        </p:nvSpPr>
        <p:spPr>
          <a:xfrm xmlns:a="http://schemas.openxmlformats.org/drawingml/2006/main">
            <a:off x="7972425" y="3448050"/>
            <a:ext cx="347662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6004"/>
          </a:bodyPr>
          <a:lstStyle xmlns:a="http://schemas.openxmlformats.org/drawingml/2006/main"/>
          <a:p xmlns:a="http://schemas.openxmlformats.org/drawingml/2006/main">
            <a:pPr>
              <a:lnSpc>
                <a:spcPct val="104000"/>
              </a:lnSpc>
              <a:buNone/>
              <a:defRPr sz="1500">
                <a:solidFill>
                  <a:srgbClr val="29485A"/>
                </a:solidFill>
                <a:latin typeface="Arial"/>
                <a:ea typeface="Arial"/>
                <a:cs typeface="Arial"/>
              </a:defRPr>
            </a:pPr>
            <a:r>
              <a:rPr sz="1500">
                <a:solidFill>
                  <a:srgbClr val="29485A"/>
                </a:solidFill>
                <a:latin typeface="Arial"/>
                <a:ea typeface="Arial"/>
                <a:cs typeface="Arial"/>
              </a:rPr>
              <a:t>AI4Bharat speech recognition with Sherpa-ONNX; optional spoken replies with gTTS.</a:t>
            </a:r>
          </a:p>
        </p:txBody>
      </p:sp>
      <p:sp>
        <p:nvSpPr>
          <p:cNvPr id="13" name="">
            <a:extLst xmlns:a="http://schemas.openxmlformats.org/drawingml/2006/main">
              <a:ext uri="{FF2B5EF4-FFF2-40B4-BE49-F238E27FC236}">
                <a16:creationId xmlns:a16="http://schemas.microsoft.com/office/drawing/2014/main" id="{DB746ACA-F478-4B3A-A8D8-6588092CF387}"/>
              </a:ext>
            </a:extLst>
          </p:cNvPr>
          <p:cNvSpPr>
            <a:spLocks xmlns:a="http://schemas.openxmlformats.org/drawingml/2006/main" noGrp="1"/>
          </p:cNvSpPr>
          <p:nvPr/>
        </p:nvSpPr>
        <p:spPr>
          <a:xfrm xmlns:a="http://schemas.openxmlformats.org/drawingml/2006/main">
            <a:off x="6353175" y="4248150"/>
            <a:ext cx="1571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8333"/>
          </a:bodyPr>
          <a:lstStyle xmlns:a="http://schemas.openxmlformats.org/drawingml/2006/main"/>
          <a:p xmlns:a="http://schemas.openxmlformats.org/drawingml/2006/main">
            <a:pPr>
              <a:buNone/>
              <a:defRPr sz="1500" b="1">
                <a:solidFill>
                  <a:srgbClr val="18364A"/>
                </a:solidFill>
                <a:latin typeface="Arial"/>
                <a:ea typeface="Arial"/>
                <a:cs typeface="Arial"/>
              </a:defRPr>
            </a:pPr>
            <a:r>
              <a:rPr sz="1500" b="1">
                <a:solidFill>
                  <a:srgbClr val="18364A"/>
                </a:solidFill>
                <a:latin typeface="Arial"/>
                <a:ea typeface="Arial"/>
                <a:cs typeface="Arial"/>
              </a:rPr>
              <a:t>Learning documents</a:t>
            </a:r>
          </a:p>
        </p:txBody>
      </p:sp>
      <p:sp>
        <p:nvSpPr>
          <p:cNvPr id="14" name="">
            <a:extLst xmlns:a="http://schemas.openxmlformats.org/drawingml/2006/main">
              <a:ext uri="{FF2B5EF4-FFF2-40B4-BE49-F238E27FC236}">
                <a16:creationId xmlns:a16="http://schemas.microsoft.com/office/drawing/2014/main" id="{13D953AF-4B78-4E18-ACC6-0B38679661B3}"/>
              </a:ext>
            </a:extLst>
          </p:cNvPr>
          <p:cNvSpPr>
            <a:spLocks xmlns:a="http://schemas.openxmlformats.org/drawingml/2006/main" noGrp="1"/>
          </p:cNvSpPr>
          <p:nvPr/>
        </p:nvSpPr>
        <p:spPr>
          <a:xfrm xmlns:a="http://schemas.openxmlformats.org/drawingml/2006/main">
            <a:off x="7972425" y="4248150"/>
            <a:ext cx="347662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nSpc>
                <a:spcPct val="104000"/>
              </a:lnSpc>
              <a:buNone/>
              <a:defRPr sz="1500">
                <a:solidFill>
                  <a:srgbClr val="29485A"/>
                </a:solidFill>
                <a:latin typeface="Arial"/>
                <a:ea typeface="Arial"/>
                <a:cs typeface="Arial"/>
              </a:defRPr>
            </a:pPr>
            <a:r>
              <a:rPr sz="1500">
                <a:solidFill>
                  <a:srgbClr val="29485A"/>
                </a:solidFill>
                <a:latin typeface="Arial"/>
                <a:ea typeface="Arial"/>
                <a:cs typeface="Arial"/>
              </a:rPr>
              <a:t>BGE-M3 embeddings, ChromaDB search, and LangChain retrieval.</a:t>
            </a:r>
          </a:p>
        </p:txBody>
      </p:sp>
      <p:sp>
        <p:nvSpPr>
          <p:cNvPr id="15" name="">
            <a:extLst xmlns:a="http://schemas.openxmlformats.org/drawingml/2006/main">
              <a:ext uri="{FF2B5EF4-FFF2-40B4-BE49-F238E27FC236}">
                <a16:creationId xmlns:a16="http://schemas.microsoft.com/office/drawing/2014/main" id="{0D2773A1-84DC-4A1B-8A29-112E95A71975}"/>
              </a:ext>
            </a:extLst>
          </p:cNvPr>
          <p:cNvSpPr>
            <a:spLocks xmlns:a="http://schemas.openxmlformats.org/drawingml/2006/main" noGrp="1"/>
          </p:cNvSpPr>
          <p:nvPr/>
        </p:nvSpPr>
        <p:spPr>
          <a:xfrm xmlns:a="http://schemas.openxmlformats.org/drawingml/2006/main">
            <a:off x="6353175" y="5048250"/>
            <a:ext cx="1571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8333"/>
          </a:bodyPr>
          <a:lstStyle xmlns:a="http://schemas.openxmlformats.org/drawingml/2006/main"/>
          <a:p xmlns:a="http://schemas.openxmlformats.org/drawingml/2006/main">
            <a:pPr>
              <a:buNone/>
              <a:defRPr sz="1500" b="1">
                <a:solidFill>
                  <a:srgbClr val="18364A"/>
                </a:solidFill>
                <a:latin typeface="Arial"/>
                <a:ea typeface="Arial"/>
                <a:cs typeface="Arial"/>
              </a:defRPr>
            </a:pPr>
            <a:r>
              <a:rPr sz="1500" b="1">
                <a:solidFill>
                  <a:srgbClr val="18364A"/>
                </a:solidFill>
                <a:latin typeface="Arial"/>
                <a:ea typeface="Arial"/>
                <a:cs typeface="Arial"/>
              </a:rPr>
              <a:t>Web and records</a:t>
            </a:r>
          </a:p>
        </p:txBody>
      </p:sp>
      <p:sp>
        <p:nvSpPr>
          <p:cNvPr id="16" name="">
            <a:extLst xmlns:a="http://schemas.openxmlformats.org/drawingml/2006/main">
              <a:ext uri="{FF2B5EF4-FFF2-40B4-BE49-F238E27FC236}">
                <a16:creationId xmlns:a16="http://schemas.microsoft.com/office/drawing/2014/main" id="{4D62ED28-1F4C-4BAA-A337-293B5B74AAA5}"/>
              </a:ext>
            </a:extLst>
          </p:cNvPr>
          <p:cNvSpPr>
            <a:spLocks xmlns:a="http://schemas.openxmlformats.org/drawingml/2006/main" noGrp="1"/>
          </p:cNvSpPr>
          <p:nvPr/>
        </p:nvSpPr>
        <p:spPr>
          <a:xfrm xmlns:a="http://schemas.openxmlformats.org/drawingml/2006/main">
            <a:off x="7972425" y="5048250"/>
            <a:ext cx="347662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6004"/>
          </a:bodyPr>
          <a:lstStyle xmlns:a="http://schemas.openxmlformats.org/drawingml/2006/main"/>
          <a:p xmlns:a="http://schemas.openxmlformats.org/drawingml/2006/main">
            <a:pPr>
              <a:lnSpc>
                <a:spcPct val="104000"/>
              </a:lnSpc>
              <a:buNone/>
              <a:defRPr sz="1500">
                <a:solidFill>
                  <a:srgbClr val="29485A"/>
                </a:solidFill>
                <a:latin typeface="Arial"/>
                <a:ea typeface="Arial"/>
                <a:cs typeface="Arial"/>
              </a:defRPr>
            </a:pPr>
            <a:r>
              <a:rPr sz="1500">
                <a:solidFill>
                  <a:srgbClr val="29485A"/>
                </a:solidFill>
                <a:latin typeface="Arial"/>
                <a:ea typeface="Arial"/>
                <a:cs typeface="Arial"/>
              </a:rPr>
              <a:t>Python FastAPI services, HTML/CSS/JavaScript pages, SQLite SEBI records, and ApexCharts.</a:t>
            </a:r>
          </a:p>
        </p:txBody>
      </p:sp>
      <p:sp>
        <p:nvSpPr>
          <p:cNvPr id="17" name="">
            <a:extLst xmlns:a="http://schemas.openxmlformats.org/drawingml/2006/main">
              <a:ext uri="{FF2B5EF4-FFF2-40B4-BE49-F238E27FC236}">
                <a16:creationId xmlns:a16="http://schemas.microsoft.com/office/drawing/2014/main" id="{B7A97B11-B156-4015-8F6A-B80EFD234917}"/>
              </a:ext>
            </a:extLst>
          </p:cNvPr>
          <p:cNvSpPr>
            <a:spLocks xmlns:a="http://schemas.openxmlformats.org/drawingml/2006/main" noGrp="1"/>
          </p:cNvSpPr>
          <p:nvPr/>
        </p:nvSpPr>
        <p:spPr>
          <a:xfrm xmlns:a="http://schemas.openxmlformats.org/drawingml/2006/main">
            <a:off x="6353175" y="6019800"/>
            <a:ext cx="5095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9502"/>
          </a:bodyPr>
          <a:lstStyle xmlns:a="http://schemas.openxmlformats.org/drawingml/2006/main"/>
          <a:p xmlns:a="http://schemas.openxmlformats.org/drawingml/2006/main">
            <a:pPr>
              <a:lnSpc>
                <a:spcPct val="103000"/>
              </a:lnSpc>
              <a:buNone/>
              <a:defRPr sz="1200">
                <a:solidFill>
                  <a:srgbClr val="637783"/>
                </a:solidFill>
                <a:latin typeface="Arial"/>
                <a:ea typeface="Arial"/>
                <a:cs typeface="Arial"/>
              </a:defRPr>
            </a:pPr>
            <a:r>
              <a:rPr sz="1200">
                <a:solidFill>
                  <a:srgbClr val="637783"/>
                </a:solidFill>
                <a:latin typeface="Arial"/>
                <a:ea typeface="Arial"/>
                <a:cs typeface="Arial"/>
              </a:rPr>
              <a:t>Nivesh is an educational project. Its simulations and automated checks do not replace professional or official advice.</a:t>
            </a:r>
          </a:p>
        </p:txBody>
      </p:sp>
    </p:spTree>
    <p:extLst>
      <p:ext uri="{BB962C8B-B14F-4D97-AF65-F5344CB8AC3E}">
        <p14:creationId xmlns:p14="http://schemas.microsoft.com/office/powerpoint/2010/main" val="1331240763"/>
      </p:ext>
    </p:extLst>
  </p:cSld>
</p:sld>
</file>

<file path=ppt/slides/slide3.xml><?xml version="1.0" encoding="utf-8"?>
<p:sld xmlns:p="http://schemas.openxmlformats.org/presentationml/2006/main">
  <p:cSld>
    <p:bg>
      <p:bgPr>
        <a:solidFill xmlns:a="http://schemas.openxmlformats.org/drawingml/2006/main">
          <a:srgbClr val="F6F0E5"/>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2B8E6519-3828-41DD-A608-125A7EB5B53A}"/>
              </a:ext>
            </a:extLst>
          </p:cNvPr>
          <p:cNvSpPr>
            <a:spLocks xmlns:a="http://schemas.openxmlformats.org/drawingml/2006/main" noGrp="1"/>
          </p:cNvSpPr>
          <p:nvPr/>
        </p:nvSpPr>
        <p:spPr>
          <a:xfrm xmlns:a="http://schemas.openxmlformats.org/drawingml/2006/main">
            <a:off x="685800" y="333375"/>
            <a:ext cx="1066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5000"/>
          </a:bodyPr>
          <a:lstStyle xmlns:a="http://schemas.openxmlformats.org/drawingml/2006/main"/>
          <a:p xmlns:a="http://schemas.openxmlformats.org/drawingml/2006/main">
            <a:pPr>
              <a:buNone/>
              <a:defRPr sz="1200" b="1">
                <a:solidFill>
                  <a:srgbClr val="C55F43"/>
                </a:solidFill>
                <a:latin typeface="Arial"/>
                <a:ea typeface="Arial"/>
                <a:cs typeface="Arial"/>
              </a:defRPr>
            </a:pPr>
            <a:r>
              <a:rPr sz="1200" b="1">
                <a:solidFill>
                  <a:srgbClr val="C55F43"/>
                </a:solidFill>
                <a:latin typeface="Arial"/>
                <a:ea typeface="Arial"/>
                <a:cs typeface="Arial"/>
              </a:rPr>
              <a:t>SANGYAN HACKATHON     /     03     NIVESH</a:t>
            </a:r>
          </a:p>
        </p:txBody>
      </p:sp>
      <p:sp>
        <p:nvSpPr>
          <p:cNvPr id="2" name="">
            <a:extLst xmlns:a="http://schemas.openxmlformats.org/drawingml/2006/main">
              <a:ext uri="{FF2B5EF4-FFF2-40B4-BE49-F238E27FC236}">
                <a16:creationId xmlns:a16="http://schemas.microsoft.com/office/drawing/2014/main" id="{AFF5A25D-7F9B-4B58-A982-BEDD617F6F35}"/>
              </a:ext>
            </a:extLst>
          </p:cNvPr>
          <p:cNvSpPr>
            <a:spLocks xmlns:a="http://schemas.openxmlformats.org/drawingml/2006/main" noGrp="1"/>
          </p:cNvSpPr>
          <p:nvPr/>
        </p:nvSpPr>
        <p:spPr>
          <a:xfrm xmlns:a="http://schemas.openxmlformats.org/drawingml/2006/main">
            <a:off x="685800" y="714375"/>
            <a:ext cx="108108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nSpc>
                <a:spcPct val="96000"/>
              </a:lnSpc>
              <a:buNone/>
              <a:defRPr sz="3450" b="1">
                <a:solidFill>
                  <a:srgbClr val="18364A"/>
                </a:solidFill>
                <a:latin typeface="Arial"/>
                <a:ea typeface="Arial"/>
                <a:cs typeface="Arial"/>
              </a:defRPr>
            </a:pPr>
            <a:r>
              <a:rPr sz="3450" b="1">
                <a:solidFill>
                  <a:srgbClr val="18364A"/>
                </a:solidFill>
                <a:latin typeface="Arial"/>
                <a:ea typeface="Arial"/>
                <a:cs typeface="Arial"/>
              </a:rPr>
              <a:t>Consequence Simulator</a:t>
            </a:r>
          </a:p>
        </p:txBody>
      </p:sp>
      <p:sp>
        <p:nvSpPr>
          <p:cNvPr id="3" name="">
            <a:extLst xmlns:a="http://schemas.openxmlformats.org/drawingml/2006/main">
              <a:ext uri="{FF2B5EF4-FFF2-40B4-BE49-F238E27FC236}">
                <a16:creationId xmlns:a16="http://schemas.microsoft.com/office/drawing/2014/main" id="{DC8014E3-4259-4AB4-8D35-4E5D53BC2845}"/>
              </a:ext>
            </a:extLst>
          </p:cNvPr>
          <p:cNvSpPr>
            <a:spLocks xmlns:a="http://schemas.openxmlformats.org/drawingml/2006/main" noGrp="1"/>
          </p:cNvSpPr>
          <p:nvPr/>
        </p:nvSpPr>
        <p:spPr>
          <a:xfrm xmlns:a="http://schemas.openxmlformats.org/drawingml/2006/main">
            <a:off x="723900" y="1457325"/>
            <a:ext cx="10572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4919"/>
          </a:bodyPr>
          <a:lstStyle xmlns:a="http://schemas.openxmlformats.org/drawingml/2006/main"/>
          <a:p xmlns:a="http://schemas.openxmlformats.org/drawingml/2006/main">
            <a:pPr>
              <a:lnSpc>
                <a:spcPct val="108000"/>
              </a:lnSpc>
              <a:buNone/>
              <a:defRPr sz="1800">
                <a:solidFill>
                  <a:srgbClr val="637783"/>
                </a:solidFill>
                <a:latin typeface="Arial"/>
                <a:ea typeface="Arial"/>
                <a:cs typeface="Arial"/>
              </a:defRPr>
            </a:pPr>
            <a:r>
              <a:rPr sz="1800">
                <a:solidFill>
                  <a:srgbClr val="637783"/>
                </a:solidFill>
                <a:latin typeface="Arial"/>
                <a:ea typeface="Arial"/>
                <a:cs typeface="Arial"/>
              </a:rPr>
              <a:t>A learner can try an investment plan on screen and see how a range of market paths could change its value.</a:t>
            </a:r>
          </a:p>
        </p:txBody>
      </p:sp>
      <p:sp>
        <p:nvSpPr>
          <p:cNvPr id="4" name="">
            <a:extLst xmlns:a="http://schemas.openxmlformats.org/drawingml/2006/main">
              <a:ext uri="{FF2B5EF4-FFF2-40B4-BE49-F238E27FC236}">
                <a16:creationId xmlns:a16="http://schemas.microsoft.com/office/drawing/2014/main" id="{7A1CDD6F-E7DE-4E3C-8B37-B854C6ADE696}"/>
              </a:ext>
            </a:extLst>
          </p:cNvPr>
          <p:cNvSpPr>
            <a:spLocks xmlns:a="http://schemas.openxmlformats.org/drawingml/2006/main" noGrp="1"/>
          </p:cNvSpPr>
          <p:nvPr/>
        </p:nvSpPr>
        <p:spPr>
          <a:xfrm xmlns:a="http://schemas.openxmlformats.org/drawingml/2006/main">
            <a:off x="742950" y="2343150"/>
            <a:ext cx="5810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0208"/>
          </a:bodyPr>
          <a:lstStyle xmlns:a="http://schemas.openxmlformats.org/drawingml/2006/main"/>
          <a:p xmlns:a="http://schemas.openxmlformats.org/drawingml/2006/main">
            <a:pPr>
              <a:buNone/>
              <a:defRPr sz="1200" b="1">
                <a:solidFill>
                  <a:srgbClr val="397C75"/>
                </a:solidFill>
                <a:latin typeface="Arial"/>
                <a:ea typeface="Arial"/>
                <a:cs typeface="Arial"/>
              </a:defRPr>
            </a:pPr>
            <a:r>
              <a:rPr sz="1200" b="1">
                <a:solidFill>
                  <a:srgbClr val="397C75"/>
                </a:solidFill>
                <a:latin typeface="Arial"/>
                <a:ea typeface="Arial"/>
                <a:cs typeface="Arial"/>
              </a:rPr>
              <a:t>HOW A USER MOVES THROUGH IT</a:t>
            </a:r>
          </a:p>
        </p:txBody>
      </p:sp>
      <p:sp>
        <p:nvSpPr>
          <p:cNvPr id="5" name="">
            <a:extLst xmlns:a="http://schemas.openxmlformats.org/drawingml/2006/main">
              <a:ext uri="{FF2B5EF4-FFF2-40B4-BE49-F238E27FC236}">
                <a16:creationId xmlns:a16="http://schemas.microsoft.com/office/drawing/2014/main" id="{FB9902E5-D3A6-406C-AD15-369F6CE91B32}"/>
              </a:ext>
            </a:extLst>
          </p:cNvPr>
          <p:cNvSpPr>
            <a:spLocks xmlns:a="http://schemas.openxmlformats.org/drawingml/2006/main" noGrp="1"/>
          </p:cNvSpPr>
          <p:nvPr/>
        </p:nvSpPr>
        <p:spPr>
          <a:xfrm xmlns:a="http://schemas.openxmlformats.org/drawingml/2006/main">
            <a:off x="742950" y="2771775"/>
            <a:ext cx="5143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4615"/>
          </a:bodyPr>
          <a:lstStyle xmlns:a="http://schemas.openxmlformats.org/drawingml/2006/main"/>
          <a:p xmlns:a="http://schemas.openxmlformats.org/drawingml/2006/main">
            <a:pPr>
              <a:buNone/>
              <a:defRPr sz="1950" b="1">
                <a:solidFill>
                  <a:srgbClr val="C55F43"/>
                </a:solidFill>
                <a:latin typeface="Arial"/>
                <a:ea typeface="Arial"/>
                <a:cs typeface="Arial"/>
              </a:defRPr>
            </a:pPr>
            <a:r>
              <a:rPr sz="1950" b="1">
                <a:solidFill>
                  <a:srgbClr val="C55F43"/>
                </a:solidFill>
                <a:latin typeface="Arial"/>
                <a:ea typeface="Arial"/>
                <a:cs typeface="Arial"/>
              </a:rPr>
              <a:t>01</a:t>
            </a:r>
          </a:p>
        </p:txBody>
      </p:sp>
      <p:sp>
        <p:nvSpPr>
          <p:cNvPr id="6" name="">
            <a:extLst xmlns:a="http://schemas.openxmlformats.org/drawingml/2006/main">
              <a:ext uri="{FF2B5EF4-FFF2-40B4-BE49-F238E27FC236}">
                <a16:creationId xmlns:a16="http://schemas.microsoft.com/office/drawing/2014/main" id="{973F5377-D121-450B-B754-106193511312}"/>
              </a:ext>
            </a:extLst>
          </p:cNvPr>
          <p:cNvSpPr>
            <a:spLocks xmlns:a="http://schemas.openxmlformats.org/drawingml/2006/main" noGrp="1"/>
          </p:cNvSpPr>
          <p:nvPr/>
        </p:nvSpPr>
        <p:spPr>
          <a:xfrm xmlns:a="http://schemas.openxmlformats.org/drawingml/2006/main">
            <a:off x="1362075" y="2771775"/>
            <a:ext cx="5191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3913"/>
          </a:bodyPr>
          <a:lstStyle xmlns:a="http://schemas.openxmlformats.org/drawingml/2006/main"/>
          <a:p xmlns:a="http://schemas.openxmlformats.org/drawingml/2006/main">
            <a:pPr>
              <a:buNone/>
              <a:defRPr sz="1725" b="1">
                <a:solidFill>
                  <a:srgbClr val="18364A"/>
                </a:solidFill>
                <a:latin typeface="Arial"/>
                <a:ea typeface="Arial"/>
                <a:cs typeface="Arial"/>
              </a:defRPr>
            </a:pPr>
            <a:r>
              <a:rPr sz="1725" b="1">
                <a:solidFill>
                  <a:srgbClr val="18364A"/>
                </a:solidFill>
                <a:latin typeface="Arial"/>
                <a:ea typeface="Arial"/>
                <a:cs typeface="Arial"/>
              </a:rPr>
              <a:t>Pick a market situation</a:t>
            </a:r>
          </a:p>
        </p:txBody>
      </p:sp>
      <p:sp>
        <p:nvSpPr>
          <p:cNvPr id="7" name="">
            <a:extLst xmlns:a="http://schemas.openxmlformats.org/drawingml/2006/main">
              <a:ext uri="{FF2B5EF4-FFF2-40B4-BE49-F238E27FC236}">
                <a16:creationId xmlns:a16="http://schemas.microsoft.com/office/drawing/2014/main" id="{DD7DE529-2A20-4277-B060-EFE2BCD26A47}"/>
              </a:ext>
            </a:extLst>
          </p:cNvPr>
          <p:cNvSpPr>
            <a:spLocks xmlns:a="http://schemas.openxmlformats.org/drawingml/2006/main" noGrp="1"/>
          </p:cNvSpPr>
          <p:nvPr/>
        </p:nvSpPr>
        <p:spPr>
          <a:xfrm xmlns:a="http://schemas.openxmlformats.org/drawingml/2006/main">
            <a:off x="1362075" y="3105150"/>
            <a:ext cx="5191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nSpc>
                <a:spcPct val="104000"/>
              </a:lnSpc>
              <a:buNone/>
              <a:defRPr sz="1500">
                <a:solidFill>
                  <a:srgbClr val="29485A"/>
                </a:solidFill>
                <a:latin typeface="Arial"/>
                <a:ea typeface="Arial"/>
                <a:cs typeface="Arial"/>
              </a:defRPr>
            </a:pPr>
            <a:r>
              <a:rPr sz="1500">
                <a:solidFill>
                  <a:srgbClr val="29485A"/>
                </a:solidFill>
                <a:latin typeface="Arial"/>
                <a:ea typeface="Arial"/>
                <a:cs typeface="Arial"/>
              </a:rPr>
              <a:t>Choose normal conditions, a crash, high volatility, a fraud collapse, or 2× leverage.</a:t>
            </a:r>
          </a:p>
        </p:txBody>
      </p:sp>
      <p:sp>
        <p:nvSpPr>
          <p:cNvPr id="8" name="">
            <a:extLst xmlns:a="http://schemas.openxmlformats.org/drawingml/2006/main">
              <a:ext uri="{FF2B5EF4-FFF2-40B4-BE49-F238E27FC236}">
                <a16:creationId xmlns:a16="http://schemas.microsoft.com/office/drawing/2014/main" id="{374F729E-3EF7-49D9-9F14-AE0D01CBABB7}"/>
              </a:ext>
            </a:extLst>
          </p:cNvPr>
          <p:cNvSpPr>
            <a:spLocks xmlns:a="http://schemas.openxmlformats.org/drawingml/2006/main" noGrp="1"/>
          </p:cNvSpPr>
          <p:nvPr/>
        </p:nvSpPr>
        <p:spPr>
          <a:xfrm xmlns:a="http://schemas.openxmlformats.org/drawingml/2006/main">
            <a:off x="742950" y="3733800"/>
            <a:ext cx="5143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4615"/>
          </a:bodyPr>
          <a:lstStyle xmlns:a="http://schemas.openxmlformats.org/drawingml/2006/main"/>
          <a:p xmlns:a="http://schemas.openxmlformats.org/drawingml/2006/main">
            <a:pPr>
              <a:buNone/>
              <a:defRPr sz="1950" b="1">
                <a:solidFill>
                  <a:srgbClr val="C55F43"/>
                </a:solidFill>
                <a:latin typeface="Arial"/>
                <a:ea typeface="Arial"/>
                <a:cs typeface="Arial"/>
              </a:defRPr>
            </a:pPr>
            <a:r>
              <a:rPr sz="1950" b="1">
                <a:solidFill>
                  <a:srgbClr val="C55F43"/>
                </a:solidFill>
                <a:latin typeface="Arial"/>
                <a:ea typeface="Arial"/>
                <a:cs typeface="Arial"/>
              </a:rPr>
              <a:t>02</a:t>
            </a:r>
          </a:p>
        </p:txBody>
      </p:sp>
      <p:sp>
        <p:nvSpPr>
          <p:cNvPr id="9" name="">
            <a:extLst xmlns:a="http://schemas.openxmlformats.org/drawingml/2006/main">
              <a:ext uri="{FF2B5EF4-FFF2-40B4-BE49-F238E27FC236}">
                <a16:creationId xmlns:a16="http://schemas.microsoft.com/office/drawing/2014/main" id="{F6956E71-FB67-4CEA-A400-D60B27264A70}"/>
              </a:ext>
            </a:extLst>
          </p:cNvPr>
          <p:cNvSpPr>
            <a:spLocks xmlns:a="http://schemas.openxmlformats.org/drawingml/2006/main" noGrp="1"/>
          </p:cNvSpPr>
          <p:nvPr/>
        </p:nvSpPr>
        <p:spPr>
          <a:xfrm xmlns:a="http://schemas.openxmlformats.org/drawingml/2006/main">
            <a:off x="1362075" y="3733800"/>
            <a:ext cx="5191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3913"/>
          </a:bodyPr>
          <a:lstStyle xmlns:a="http://schemas.openxmlformats.org/drawingml/2006/main"/>
          <a:p xmlns:a="http://schemas.openxmlformats.org/drawingml/2006/main">
            <a:pPr>
              <a:buNone/>
              <a:defRPr sz="1725" b="1">
                <a:solidFill>
                  <a:srgbClr val="18364A"/>
                </a:solidFill>
                <a:latin typeface="Arial"/>
                <a:ea typeface="Arial"/>
                <a:cs typeface="Arial"/>
              </a:defRPr>
            </a:pPr>
            <a:r>
              <a:rPr sz="1725" b="1">
                <a:solidFill>
                  <a:srgbClr val="18364A"/>
                </a:solidFill>
                <a:latin typeface="Arial"/>
                <a:ea typeface="Arial"/>
                <a:cs typeface="Arial"/>
              </a:rPr>
              <a:t>Set up a virtual portfolio</a:t>
            </a:r>
          </a:p>
        </p:txBody>
      </p:sp>
      <p:sp>
        <p:nvSpPr>
          <p:cNvPr id="10" name="">
            <a:extLst xmlns:a="http://schemas.openxmlformats.org/drawingml/2006/main">
              <a:ext uri="{FF2B5EF4-FFF2-40B4-BE49-F238E27FC236}">
                <a16:creationId xmlns:a16="http://schemas.microsoft.com/office/drawing/2014/main" id="{AC7B8859-EDF1-4C1E-A3C5-38D83637B0F5}"/>
              </a:ext>
            </a:extLst>
          </p:cNvPr>
          <p:cNvSpPr>
            <a:spLocks xmlns:a="http://schemas.openxmlformats.org/drawingml/2006/main" noGrp="1"/>
          </p:cNvSpPr>
          <p:nvPr/>
        </p:nvSpPr>
        <p:spPr>
          <a:xfrm xmlns:a="http://schemas.openxmlformats.org/drawingml/2006/main">
            <a:off x="1362075" y="4067175"/>
            <a:ext cx="5191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nSpc>
                <a:spcPct val="104000"/>
              </a:lnSpc>
              <a:buNone/>
              <a:defRPr sz="1500">
                <a:solidFill>
                  <a:srgbClr val="29485A"/>
                </a:solidFill>
                <a:latin typeface="Arial"/>
                <a:ea typeface="Arial"/>
                <a:cs typeface="Arial"/>
              </a:defRPr>
            </a:pPr>
            <a:r>
              <a:rPr sz="1500">
                <a:solidFill>
                  <a:srgbClr val="29485A"/>
                </a:solidFill>
                <a:latin typeface="Arial"/>
                <a:ea typeface="Arial"/>
                <a:cs typeface="Arial"/>
              </a:rPr>
              <a:t>Add stocks or bonds, choose a lump sum or monthly units, and set the time period and number of runs.</a:t>
            </a:r>
          </a:p>
        </p:txBody>
      </p:sp>
      <p:sp>
        <p:nvSpPr>
          <p:cNvPr id="11" name="">
            <a:extLst xmlns:a="http://schemas.openxmlformats.org/drawingml/2006/main">
              <a:ext uri="{FF2B5EF4-FFF2-40B4-BE49-F238E27FC236}">
                <a16:creationId xmlns:a16="http://schemas.microsoft.com/office/drawing/2014/main" id="{4FDD0BCF-E967-4090-8C4E-8266BDF18C96}"/>
              </a:ext>
            </a:extLst>
          </p:cNvPr>
          <p:cNvSpPr>
            <a:spLocks xmlns:a="http://schemas.openxmlformats.org/drawingml/2006/main" noGrp="1"/>
          </p:cNvSpPr>
          <p:nvPr/>
        </p:nvSpPr>
        <p:spPr>
          <a:xfrm xmlns:a="http://schemas.openxmlformats.org/drawingml/2006/main">
            <a:off x="742950" y="4695825"/>
            <a:ext cx="5143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4615"/>
          </a:bodyPr>
          <a:lstStyle xmlns:a="http://schemas.openxmlformats.org/drawingml/2006/main"/>
          <a:p xmlns:a="http://schemas.openxmlformats.org/drawingml/2006/main">
            <a:pPr>
              <a:buNone/>
              <a:defRPr sz="1950" b="1">
                <a:solidFill>
                  <a:srgbClr val="C55F43"/>
                </a:solidFill>
                <a:latin typeface="Arial"/>
                <a:ea typeface="Arial"/>
                <a:cs typeface="Arial"/>
              </a:defRPr>
            </a:pPr>
            <a:r>
              <a:rPr sz="1950" b="1">
                <a:solidFill>
                  <a:srgbClr val="C55F43"/>
                </a:solidFill>
                <a:latin typeface="Arial"/>
                <a:ea typeface="Arial"/>
                <a:cs typeface="Arial"/>
              </a:rPr>
              <a:t>03</a:t>
            </a:r>
          </a:p>
        </p:txBody>
      </p:sp>
      <p:sp>
        <p:nvSpPr>
          <p:cNvPr id="12" name="">
            <a:extLst xmlns:a="http://schemas.openxmlformats.org/drawingml/2006/main">
              <a:ext uri="{FF2B5EF4-FFF2-40B4-BE49-F238E27FC236}">
                <a16:creationId xmlns:a16="http://schemas.microsoft.com/office/drawing/2014/main" id="{97B4B76B-646F-49F0-BA93-5DD4A3609B78}"/>
              </a:ext>
            </a:extLst>
          </p:cNvPr>
          <p:cNvSpPr>
            <a:spLocks xmlns:a="http://schemas.openxmlformats.org/drawingml/2006/main" noGrp="1"/>
          </p:cNvSpPr>
          <p:nvPr/>
        </p:nvSpPr>
        <p:spPr>
          <a:xfrm xmlns:a="http://schemas.openxmlformats.org/drawingml/2006/main">
            <a:off x="1362075" y="4695825"/>
            <a:ext cx="5191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3913"/>
          </a:bodyPr>
          <a:lstStyle xmlns:a="http://schemas.openxmlformats.org/drawingml/2006/main"/>
          <a:p xmlns:a="http://schemas.openxmlformats.org/drawingml/2006/main">
            <a:pPr>
              <a:buNone/>
              <a:defRPr sz="1725" b="1">
                <a:solidFill>
                  <a:srgbClr val="18364A"/>
                </a:solidFill>
                <a:latin typeface="Arial"/>
                <a:ea typeface="Arial"/>
                <a:cs typeface="Arial"/>
              </a:defRPr>
            </a:pPr>
            <a:r>
              <a:rPr sz="1725" b="1">
                <a:solidFill>
                  <a:srgbClr val="18364A"/>
                </a:solidFill>
                <a:latin typeface="Arial"/>
                <a:ea typeface="Arial"/>
                <a:cs typeface="Arial"/>
              </a:rPr>
              <a:t>Compare the outcomes</a:t>
            </a:r>
          </a:p>
        </p:txBody>
      </p:sp>
      <p:sp>
        <p:nvSpPr>
          <p:cNvPr id="13" name="">
            <a:extLst xmlns:a="http://schemas.openxmlformats.org/drawingml/2006/main">
              <a:ext uri="{FF2B5EF4-FFF2-40B4-BE49-F238E27FC236}">
                <a16:creationId xmlns:a16="http://schemas.microsoft.com/office/drawing/2014/main" id="{CD296C8A-FE07-4170-95EC-0B3D521430F0}"/>
              </a:ext>
            </a:extLst>
          </p:cNvPr>
          <p:cNvSpPr>
            <a:spLocks xmlns:a="http://schemas.openxmlformats.org/drawingml/2006/main" noGrp="1"/>
          </p:cNvSpPr>
          <p:nvPr/>
        </p:nvSpPr>
        <p:spPr>
          <a:xfrm xmlns:a="http://schemas.openxmlformats.org/drawingml/2006/main">
            <a:off x="1362075" y="5029200"/>
            <a:ext cx="5191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nSpc>
                <a:spcPct val="104000"/>
              </a:lnSpc>
              <a:buNone/>
              <a:defRPr sz="1500">
                <a:solidFill>
                  <a:srgbClr val="29485A"/>
                </a:solidFill>
                <a:latin typeface="Arial"/>
                <a:ea typeface="Arial"/>
                <a:cs typeface="Arial"/>
              </a:defRPr>
            </a:pPr>
            <a:r>
              <a:rPr sz="1500">
                <a:solidFill>
                  <a:srgbClr val="29485A"/>
                </a:solidFill>
                <a:latin typeface="Arial"/>
                <a:ea typeface="Arial"/>
                <a:cs typeface="Arial"/>
              </a:rPr>
              <a:t>Review average, best and worst values, profitable runs, possible losses, and charts.</a:t>
            </a:r>
          </a:p>
        </p:txBody>
      </p:sp>
      <p:sp>
        <p:nvSpPr>
          <p:cNvPr id="14" name="">
            <a:extLst xmlns:a="http://schemas.openxmlformats.org/drawingml/2006/main">
              <a:ext uri="{FF2B5EF4-FFF2-40B4-BE49-F238E27FC236}">
                <a16:creationId xmlns:a16="http://schemas.microsoft.com/office/drawing/2014/main" id="{1466C095-FC50-43D2-B2DE-64F8FE197F2E}"/>
              </a:ext>
            </a:extLst>
          </p:cNvPr>
          <p:cNvSpPr>
            <a:spLocks xmlns:a="http://schemas.openxmlformats.org/drawingml/2006/main" noGrp="1"/>
          </p:cNvSpPr>
          <p:nvPr/>
        </p:nvSpPr>
        <p:spPr>
          <a:xfrm xmlns:a="http://schemas.openxmlformats.org/drawingml/2006/main">
            <a:off x="7162800" y="2343150"/>
            <a:ext cx="428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0208"/>
          </a:bodyPr>
          <a:lstStyle xmlns:a="http://schemas.openxmlformats.org/drawingml/2006/main"/>
          <a:p xmlns:a="http://schemas.openxmlformats.org/drawingml/2006/main">
            <a:pPr>
              <a:buNone/>
              <a:defRPr sz="1200" b="1">
                <a:solidFill>
                  <a:srgbClr val="397C75"/>
                </a:solidFill>
                <a:latin typeface="Arial"/>
                <a:ea typeface="Arial"/>
                <a:cs typeface="Arial"/>
              </a:defRPr>
            </a:pPr>
            <a:r>
              <a:rPr sz="1200" b="1">
                <a:solidFill>
                  <a:srgbClr val="397C75"/>
                </a:solidFill>
                <a:latin typeface="Arial"/>
                <a:ea typeface="Arial"/>
                <a:cs typeface="Arial"/>
              </a:rPr>
              <a:t>WHAT HAPPENS BEHIND THE SCENES</a:t>
            </a:r>
          </a:p>
        </p:txBody>
      </p:sp>
      <p:sp>
        <p:nvSpPr>
          <p:cNvPr id="15" name="">
            <a:extLst xmlns:a="http://schemas.openxmlformats.org/drawingml/2006/main">
              <a:ext uri="{FF2B5EF4-FFF2-40B4-BE49-F238E27FC236}">
                <a16:creationId xmlns:a16="http://schemas.microsoft.com/office/drawing/2014/main" id="{48B27BA2-5BEB-4F71-907F-1D67223F63F6}"/>
              </a:ext>
            </a:extLst>
          </p:cNvPr>
          <p:cNvSpPr>
            <a:spLocks xmlns:a="http://schemas.openxmlformats.org/drawingml/2006/main" noGrp="1"/>
          </p:cNvSpPr>
          <p:nvPr/>
        </p:nvSpPr>
        <p:spPr>
          <a:xfrm xmlns:a="http://schemas.openxmlformats.org/drawingml/2006/main">
            <a:off x="7162800" y="2771775"/>
            <a:ext cx="4286250" cy="205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nSpc>
                <a:spcPct val="110000"/>
              </a:lnSpc>
              <a:buNone/>
              <a:defRPr sz="1575">
                <a:solidFill>
                  <a:srgbClr val="18364A"/>
                </a:solidFill>
                <a:latin typeface="Arial"/>
                <a:ea typeface="Arial"/>
                <a:cs typeface="Arial"/>
              </a:defRPr>
            </a:pPr>
            <a:r>
              <a:rPr sz="1575">
                <a:solidFill>
                  <a:srgbClr val="18364A"/>
                </a:solidFill>
                <a:latin typeface="Arial"/>
                <a:ea typeface="Arial"/>
                <a:cs typeface="Arial"/>
              </a:rPr>
              <a:t>The simulator changes virtual prices day by day using random market movement and illustrative return and volatility assumptions. It repeats the same setup across multiple runs, so users see a range of outcomes. The fraud scenario models a sharp collapse; leverage magnifies price changes.</a:t>
            </a:r>
          </a:p>
        </p:txBody>
      </p:sp>
      <p:sp>
        <p:nvSpPr>
          <p:cNvPr id="16" name="">
            <a:extLst xmlns:a="http://schemas.openxmlformats.org/drawingml/2006/main">
              <a:ext uri="{FF2B5EF4-FFF2-40B4-BE49-F238E27FC236}">
                <a16:creationId xmlns:a16="http://schemas.microsoft.com/office/drawing/2014/main" id="{1EEFE337-A16A-4E53-AEA8-EAF436E43462}"/>
              </a:ext>
            </a:extLst>
          </p:cNvPr>
          <p:cNvSpPr>
            <a:spLocks xmlns:a="http://schemas.openxmlformats.org/drawingml/2006/main" noGrp="1"/>
          </p:cNvSpPr>
          <p:nvPr/>
        </p:nvSpPr>
        <p:spPr>
          <a:xfrm xmlns:a="http://schemas.openxmlformats.org/drawingml/2006/main">
            <a:off x="7162800" y="4953000"/>
            <a:ext cx="4286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9792"/>
          </a:bodyPr>
          <a:lstStyle xmlns:a="http://schemas.openxmlformats.org/drawingml/2006/main"/>
          <a:p xmlns:a="http://schemas.openxmlformats.org/drawingml/2006/main">
            <a:pPr>
              <a:buNone/>
              <a:defRPr sz="1200" b="1">
                <a:solidFill>
                  <a:srgbClr val="B38736"/>
                </a:solidFill>
                <a:latin typeface="Arial"/>
                <a:ea typeface="Arial"/>
                <a:cs typeface="Arial"/>
              </a:defRPr>
            </a:pPr>
            <a:r>
              <a:rPr sz="1200" b="1">
                <a:solidFill>
                  <a:srgbClr val="B38736"/>
                </a:solidFill>
                <a:latin typeface="Arial"/>
                <a:ea typeface="Arial"/>
                <a:cs typeface="Arial"/>
              </a:rPr>
              <a:t>WHAT LEARNERS SHOULD TAKE AWAY</a:t>
            </a:r>
          </a:p>
        </p:txBody>
      </p:sp>
      <p:sp>
        <p:nvSpPr>
          <p:cNvPr id="17" name="">
            <a:extLst xmlns:a="http://schemas.openxmlformats.org/drawingml/2006/main">
              <a:ext uri="{FF2B5EF4-FFF2-40B4-BE49-F238E27FC236}">
                <a16:creationId xmlns:a16="http://schemas.microsoft.com/office/drawing/2014/main" id="{D3DE078E-6679-40FA-99EB-B1A9A9CE7FAB}"/>
              </a:ext>
            </a:extLst>
          </p:cNvPr>
          <p:cNvSpPr>
            <a:spLocks xmlns:a="http://schemas.openxmlformats.org/drawingml/2006/main" noGrp="1"/>
          </p:cNvSpPr>
          <p:nvPr/>
        </p:nvSpPr>
        <p:spPr>
          <a:xfrm xmlns:a="http://schemas.openxmlformats.org/drawingml/2006/main">
            <a:off x="7162800" y="5257800"/>
            <a:ext cx="42862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6630"/>
          </a:bodyPr>
          <a:lstStyle xmlns:a="http://schemas.openxmlformats.org/drawingml/2006/main"/>
          <a:p xmlns:a="http://schemas.openxmlformats.org/drawingml/2006/main">
            <a:pPr>
              <a:lnSpc>
                <a:spcPct val="105000"/>
              </a:lnSpc>
              <a:buNone/>
              <a:defRPr sz="1425">
                <a:solidFill>
                  <a:srgbClr val="637783"/>
                </a:solidFill>
                <a:latin typeface="Arial"/>
                <a:ea typeface="Arial"/>
                <a:cs typeface="Arial"/>
              </a:defRPr>
            </a:pPr>
            <a:r>
              <a:rPr sz="1425">
                <a:solidFill>
                  <a:srgbClr val="637783"/>
                </a:solidFill>
                <a:latin typeface="Arial"/>
                <a:ea typeface="Arial"/>
                <a:cs typeface="Arial"/>
              </a:rPr>
              <a:t>Risk includes the chance of loss as well as the chance of gain. The displayed results are examples, not a forecast of a real investment.</a:t>
            </a:r>
          </a:p>
        </p:txBody>
      </p:sp>
      <p:sp>
        <p:nvSpPr>
          <p:cNvPr id="18" name="">
            <a:extLst xmlns:a="http://schemas.openxmlformats.org/drawingml/2006/main">
              <a:ext uri="{FF2B5EF4-FFF2-40B4-BE49-F238E27FC236}">
                <a16:creationId xmlns:a16="http://schemas.microsoft.com/office/drawing/2014/main" id="{FED973AC-54D9-486C-9DF7-7F8987A345CD}"/>
              </a:ext>
            </a:extLst>
          </p:cNvPr>
          <p:cNvSpPr>
            <a:spLocks xmlns:a="http://schemas.openxmlformats.org/drawingml/2006/main" noGrp="1"/>
          </p:cNvSpPr>
          <p:nvPr/>
        </p:nvSpPr>
        <p:spPr>
          <a:xfrm xmlns:a="http://schemas.openxmlformats.org/drawingml/2006/main">
            <a:off x="742950" y="6115050"/>
            <a:ext cx="107156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buNone/>
              <a:defRPr sz="1200">
                <a:solidFill>
                  <a:srgbClr val="637783"/>
                </a:solidFill>
                <a:latin typeface="Arial"/>
                <a:ea typeface="Arial"/>
                <a:cs typeface="Arial"/>
              </a:defRPr>
            </a:pPr>
            <a:r>
              <a:rPr sz="1200">
                <a:solidFill>
                  <a:srgbClr val="637783"/>
                </a:solidFill>
                <a:latin typeface="Arial"/>
                <a:ea typeface="Arial"/>
                <a:cs typeface="Arial"/>
              </a:rPr>
              <a:t>Built with JavaScript and ApexCharts  /  Uses virtual assets and assumptions, not live market prices</a:t>
            </a:r>
          </a:p>
        </p:txBody>
      </p:sp>
    </p:spTree>
    <p:extLst>
      <p:ext uri="{BB962C8B-B14F-4D97-AF65-F5344CB8AC3E}">
        <p14:creationId xmlns:p14="http://schemas.microsoft.com/office/powerpoint/2010/main" val="1328772918"/>
      </p:ext>
    </p:extLst>
  </p:cSld>
</p:sld>
</file>

<file path=ppt/slides/slide4.xml><?xml version="1.0" encoding="utf-8"?>
<p:sld xmlns:p="http://schemas.openxmlformats.org/presentationml/2006/main">
  <p:cSld>
    <p:bg>
      <p:bgPr>
        <a:solidFill xmlns:a="http://schemas.openxmlformats.org/drawingml/2006/main">
          <a:srgbClr val="F6F0E5"/>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C139DB2B-B2F7-4A72-958D-1B0EB308A076}"/>
              </a:ext>
            </a:extLst>
          </p:cNvPr>
          <p:cNvSpPr>
            <a:spLocks xmlns:a="http://schemas.openxmlformats.org/drawingml/2006/main" noGrp="1"/>
          </p:cNvSpPr>
          <p:nvPr/>
        </p:nvSpPr>
        <p:spPr>
          <a:xfrm xmlns:a="http://schemas.openxmlformats.org/drawingml/2006/main">
            <a:off x="685800" y="333375"/>
            <a:ext cx="1066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5000"/>
          </a:bodyPr>
          <a:lstStyle xmlns:a="http://schemas.openxmlformats.org/drawingml/2006/main"/>
          <a:p xmlns:a="http://schemas.openxmlformats.org/drawingml/2006/main">
            <a:pPr>
              <a:buNone/>
              <a:defRPr sz="1200" b="1">
                <a:solidFill>
                  <a:srgbClr val="C55F43"/>
                </a:solidFill>
                <a:latin typeface="Arial"/>
                <a:ea typeface="Arial"/>
                <a:cs typeface="Arial"/>
              </a:defRPr>
            </a:pPr>
            <a:r>
              <a:rPr sz="1200" b="1">
                <a:solidFill>
                  <a:srgbClr val="C55F43"/>
                </a:solidFill>
                <a:latin typeface="Arial"/>
                <a:ea typeface="Arial"/>
                <a:cs typeface="Arial"/>
              </a:rPr>
              <a:t>SANGYAN HACKATHON     /     04     NIVESH</a:t>
            </a:r>
          </a:p>
        </p:txBody>
      </p:sp>
      <p:sp>
        <p:nvSpPr>
          <p:cNvPr id="2" name="">
            <a:extLst xmlns:a="http://schemas.openxmlformats.org/drawingml/2006/main">
              <a:ext uri="{FF2B5EF4-FFF2-40B4-BE49-F238E27FC236}">
                <a16:creationId xmlns:a16="http://schemas.microsoft.com/office/drawing/2014/main" id="{4B66870F-6FC9-4191-B661-F268996A0BDC}"/>
              </a:ext>
            </a:extLst>
          </p:cNvPr>
          <p:cNvSpPr>
            <a:spLocks xmlns:a="http://schemas.openxmlformats.org/drawingml/2006/main" noGrp="1"/>
          </p:cNvSpPr>
          <p:nvPr/>
        </p:nvSpPr>
        <p:spPr>
          <a:xfrm xmlns:a="http://schemas.openxmlformats.org/drawingml/2006/main">
            <a:off x="685800" y="714375"/>
            <a:ext cx="108108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nSpc>
                <a:spcPct val="96000"/>
              </a:lnSpc>
              <a:buNone/>
              <a:defRPr sz="3450" b="1">
                <a:solidFill>
                  <a:srgbClr val="18364A"/>
                </a:solidFill>
                <a:latin typeface="Arial"/>
                <a:ea typeface="Arial"/>
                <a:cs typeface="Arial"/>
              </a:defRPr>
            </a:pPr>
            <a:r>
              <a:rPr sz="3450" b="1">
                <a:solidFill>
                  <a:srgbClr val="18364A"/>
                </a:solidFill>
                <a:latin typeface="Arial"/>
                <a:ea typeface="Arial"/>
                <a:cs typeface="Arial"/>
              </a:rPr>
              <a:t>Fraud Detection</a:t>
            </a:r>
          </a:p>
        </p:txBody>
      </p:sp>
      <p:sp>
        <p:nvSpPr>
          <p:cNvPr id="3" name="">
            <a:extLst xmlns:a="http://schemas.openxmlformats.org/drawingml/2006/main">
              <a:ext uri="{FF2B5EF4-FFF2-40B4-BE49-F238E27FC236}">
                <a16:creationId xmlns:a16="http://schemas.microsoft.com/office/drawing/2014/main" id="{DDFAF6C3-4E19-4821-9328-444D71D793BB}"/>
              </a:ext>
            </a:extLst>
          </p:cNvPr>
          <p:cNvSpPr>
            <a:spLocks xmlns:a="http://schemas.openxmlformats.org/drawingml/2006/main" noGrp="1"/>
          </p:cNvSpPr>
          <p:nvPr/>
        </p:nvSpPr>
        <p:spPr>
          <a:xfrm xmlns:a="http://schemas.openxmlformats.org/drawingml/2006/main">
            <a:off x="723900" y="1457325"/>
            <a:ext cx="10572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4227"/>
          </a:bodyPr>
          <a:lstStyle xmlns:a="http://schemas.openxmlformats.org/drawingml/2006/main"/>
          <a:p xmlns:a="http://schemas.openxmlformats.org/drawingml/2006/main">
            <a:pPr>
              <a:lnSpc>
                <a:spcPct val="108000"/>
              </a:lnSpc>
              <a:buNone/>
              <a:defRPr sz="1800">
                <a:solidFill>
                  <a:srgbClr val="637783"/>
                </a:solidFill>
                <a:latin typeface="Arial"/>
                <a:ea typeface="Arial"/>
                <a:cs typeface="Arial"/>
              </a:defRPr>
            </a:pPr>
            <a:r>
              <a:rPr sz="1800">
                <a:solidFill>
                  <a:srgbClr val="637783"/>
                </a:solidFill>
                <a:latin typeface="Arial"/>
                <a:ea typeface="Arial"/>
                <a:cs typeface="Arial"/>
              </a:rPr>
              <a:t>A quick first review of an investment message, image, PDF, or voice note, with the evidence shown alongside the findings.</a:t>
            </a:r>
          </a:p>
        </p:txBody>
      </p:sp>
      <p:sp>
        <p:nvSpPr>
          <p:cNvPr id="4" name="">
            <a:extLst xmlns:a="http://schemas.openxmlformats.org/drawingml/2006/main">
              <a:ext uri="{FF2B5EF4-FFF2-40B4-BE49-F238E27FC236}">
                <a16:creationId xmlns:a16="http://schemas.microsoft.com/office/drawing/2014/main" id="{3FE91F68-FA85-4DE2-9136-11525318E1DD}"/>
              </a:ext>
            </a:extLst>
          </p:cNvPr>
          <p:cNvSpPr>
            <a:spLocks xmlns:a="http://schemas.openxmlformats.org/drawingml/2006/main" noGrp="1"/>
          </p:cNvSpPr>
          <p:nvPr/>
        </p:nvSpPr>
        <p:spPr>
          <a:xfrm xmlns:a="http://schemas.openxmlformats.org/drawingml/2006/main">
            <a:off x="742950" y="2343150"/>
            <a:ext cx="5810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0208"/>
          </a:bodyPr>
          <a:lstStyle xmlns:a="http://schemas.openxmlformats.org/drawingml/2006/main"/>
          <a:p xmlns:a="http://schemas.openxmlformats.org/drawingml/2006/main">
            <a:pPr>
              <a:buNone/>
              <a:defRPr sz="1200" b="1">
                <a:solidFill>
                  <a:srgbClr val="397C75"/>
                </a:solidFill>
                <a:latin typeface="Arial"/>
                <a:ea typeface="Arial"/>
                <a:cs typeface="Arial"/>
              </a:defRPr>
            </a:pPr>
            <a:r>
              <a:rPr sz="1200" b="1">
                <a:solidFill>
                  <a:srgbClr val="397C75"/>
                </a:solidFill>
                <a:latin typeface="Arial"/>
                <a:ea typeface="Arial"/>
                <a:cs typeface="Arial"/>
              </a:rPr>
              <a:t>HOW A USER MOVES THROUGH IT</a:t>
            </a:r>
          </a:p>
        </p:txBody>
      </p:sp>
      <p:sp>
        <p:nvSpPr>
          <p:cNvPr id="5" name="">
            <a:extLst xmlns:a="http://schemas.openxmlformats.org/drawingml/2006/main">
              <a:ext uri="{FF2B5EF4-FFF2-40B4-BE49-F238E27FC236}">
                <a16:creationId xmlns:a16="http://schemas.microsoft.com/office/drawing/2014/main" id="{7A68AD29-5EE9-4537-89BD-BF554D67F8FC}"/>
              </a:ext>
            </a:extLst>
          </p:cNvPr>
          <p:cNvSpPr>
            <a:spLocks xmlns:a="http://schemas.openxmlformats.org/drawingml/2006/main" noGrp="1"/>
          </p:cNvSpPr>
          <p:nvPr/>
        </p:nvSpPr>
        <p:spPr>
          <a:xfrm xmlns:a="http://schemas.openxmlformats.org/drawingml/2006/main">
            <a:off x="742950" y="2771775"/>
            <a:ext cx="5143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4615"/>
          </a:bodyPr>
          <a:lstStyle xmlns:a="http://schemas.openxmlformats.org/drawingml/2006/main"/>
          <a:p xmlns:a="http://schemas.openxmlformats.org/drawingml/2006/main">
            <a:pPr>
              <a:buNone/>
              <a:defRPr sz="1950" b="1">
                <a:solidFill>
                  <a:srgbClr val="C55F43"/>
                </a:solidFill>
                <a:latin typeface="Arial"/>
                <a:ea typeface="Arial"/>
                <a:cs typeface="Arial"/>
              </a:defRPr>
            </a:pPr>
            <a:r>
              <a:rPr sz="1950" b="1">
                <a:solidFill>
                  <a:srgbClr val="C55F43"/>
                </a:solidFill>
                <a:latin typeface="Arial"/>
                <a:ea typeface="Arial"/>
                <a:cs typeface="Arial"/>
              </a:rPr>
              <a:t>01</a:t>
            </a:r>
          </a:p>
        </p:txBody>
      </p:sp>
      <p:sp>
        <p:nvSpPr>
          <p:cNvPr id="6" name="">
            <a:extLst xmlns:a="http://schemas.openxmlformats.org/drawingml/2006/main">
              <a:ext uri="{FF2B5EF4-FFF2-40B4-BE49-F238E27FC236}">
                <a16:creationId xmlns:a16="http://schemas.microsoft.com/office/drawing/2014/main" id="{3D0D6F84-E0DC-4500-AA25-19771F904805}"/>
              </a:ext>
            </a:extLst>
          </p:cNvPr>
          <p:cNvSpPr>
            <a:spLocks xmlns:a="http://schemas.openxmlformats.org/drawingml/2006/main" noGrp="1"/>
          </p:cNvSpPr>
          <p:nvPr/>
        </p:nvSpPr>
        <p:spPr>
          <a:xfrm xmlns:a="http://schemas.openxmlformats.org/drawingml/2006/main">
            <a:off x="1362075" y="2771775"/>
            <a:ext cx="5191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3913"/>
          </a:bodyPr>
          <a:lstStyle xmlns:a="http://schemas.openxmlformats.org/drawingml/2006/main"/>
          <a:p xmlns:a="http://schemas.openxmlformats.org/drawingml/2006/main">
            <a:pPr>
              <a:buNone/>
              <a:defRPr sz="1725" b="1">
                <a:solidFill>
                  <a:srgbClr val="18364A"/>
                </a:solidFill>
                <a:latin typeface="Arial"/>
                <a:ea typeface="Arial"/>
                <a:cs typeface="Arial"/>
              </a:defRPr>
            </a:pPr>
            <a:r>
              <a:rPr sz="1725" b="1">
                <a:solidFill>
                  <a:srgbClr val="18364A"/>
                </a:solidFill>
                <a:latin typeface="Arial"/>
                <a:ea typeface="Arial"/>
                <a:cs typeface="Arial"/>
              </a:rPr>
              <a:t>Add the evidence you have</a:t>
            </a:r>
          </a:p>
        </p:txBody>
      </p:sp>
      <p:sp>
        <p:nvSpPr>
          <p:cNvPr id="7" name="">
            <a:extLst xmlns:a="http://schemas.openxmlformats.org/drawingml/2006/main">
              <a:ext uri="{FF2B5EF4-FFF2-40B4-BE49-F238E27FC236}">
                <a16:creationId xmlns:a16="http://schemas.microsoft.com/office/drawing/2014/main" id="{CA99B525-D548-4AA7-8245-E82ABB8F775F}"/>
              </a:ext>
            </a:extLst>
          </p:cNvPr>
          <p:cNvSpPr>
            <a:spLocks xmlns:a="http://schemas.openxmlformats.org/drawingml/2006/main" noGrp="1"/>
          </p:cNvSpPr>
          <p:nvPr/>
        </p:nvSpPr>
        <p:spPr>
          <a:xfrm xmlns:a="http://schemas.openxmlformats.org/drawingml/2006/main">
            <a:off x="1362075" y="3105150"/>
            <a:ext cx="5191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nSpc>
                <a:spcPct val="104000"/>
              </a:lnSpc>
              <a:buNone/>
              <a:defRPr sz="1500">
                <a:solidFill>
                  <a:srgbClr val="29485A"/>
                </a:solidFill>
                <a:latin typeface="Arial"/>
                <a:ea typeface="Arial"/>
                <a:cs typeface="Arial"/>
              </a:defRPr>
            </a:pPr>
            <a:r>
              <a:rPr sz="1500">
                <a:solidFill>
                  <a:srgbClr val="29485A"/>
                </a:solidFill>
                <a:latin typeface="Arial"/>
                <a:ea typeface="Arial"/>
                <a:cs typeface="Arial"/>
              </a:rPr>
              <a:t>Enter message text and, if available, a name or handle, voice recording, screenshot, or PDF.</a:t>
            </a:r>
          </a:p>
        </p:txBody>
      </p:sp>
      <p:sp>
        <p:nvSpPr>
          <p:cNvPr id="8" name="">
            <a:extLst xmlns:a="http://schemas.openxmlformats.org/drawingml/2006/main">
              <a:ext uri="{FF2B5EF4-FFF2-40B4-BE49-F238E27FC236}">
                <a16:creationId xmlns:a16="http://schemas.microsoft.com/office/drawing/2014/main" id="{8F48B90C-EA6B-4F2A-9CE2-93BB5C5A929C}"/>
              </a:ext>
            </a:extLst>
          </p:cNvPr>
          <p:cNvSpPr>
            <a:spLocks xmlns:a="http://schemas.openxmlformats.org/drawingml/2006/main" noGrp="1"/>
          </p:cNvSpPr>
          <p:nvPr/>
        </p:nvSpPr>
        <p:spPr>
          <a:xfrm xmlns:a="http://schemas.openxmlformats.org/drawingml/2006/main">
            <a:off x="742950" y="3733800"/>
            <a:ext cx="5143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4615"/>
          </a:bodyPr>
          <a:lstStyle xmlns:a="http://schemas.openxmlformats.org/drawingml/2006/main"/>
          <a:p xmlns:a="http://schemas.openxmlformats.org/drawingml/2006/main">
            <a:pPr>
              <a:buNone/>
              <a:defRPr sz="1950" b="1">
                <a:solidFill>
                  <a:srgbClr val="C55F43"/>
                </a:solidFill>
                <a:latin typeface="Arial"/>
                <a:ea typeface="Arial"/>
                <a:cs typeface="Arial"/>
              </a:defRPr>
            </a:pPr>
            <a:r>
              <a:rPr sz="1950" b="1">
                <a:solidFill>
                  <a:srgbClr val="C55F43"/>
                </a:solidFill>
                <a:latin typeface="Arial"/>
                <a:ea typeface="Arial"/>
                <a:cs typeface="Arial"/>
              </a:rPr>
              <a:t>02</a:t>
            </a:r>
          </a:p>
        </p:txBody>
      </p:sp>
      <p:sp>
        <p:nvSpPr>
          <p:cNvPr id="9" name="">
            <a:extLst xmlns:a="http://schemas.openxmlformats.org/drawingml/2006/main">
              <a:ext uri="{FF2B5EF4-FFF2-40B4-BE49-F238E27FC236}">
                <a16:creationId xmlns:a16="http://schemas.microsoft.com/office/drawing/2014/main" id="{2CE4FC38-DE35-44B1-A56F-CDBECF124A1E}"/>
              </a:ext>
            </a:extLst>
          </p:cNvPr>
          <p:cNvSpPr>
            <a:spLocks xmlns:a="http://schemas.openxmlformats.org/drawingml/2006/main" noGrp="1"/>
          </p:cNvSpPr>
          <p:nvPr/>
        </p:nvSpPr>
        <p:spPr>
          <a:xfrm xmlns:a="http://schemas.openxmlformats.org/drawingml/2006/main">
            <a:off x="1362075" y="3733800"/>
            <a:ext cx="5191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3913"/>
          </a:bodyPr>
          <a:lstStyle xmlns:a="http://schemas.openxmlformats.org/drawingml/2006/main"/>
          <a:p xmlns:a="http://schemas.openxmlformats.org/drawingml/2006/main">
            <a:pPr>
              <a:buNone/>
              <a:defRPr sz="1725" b="1">
                <a:solidFill>
                  <a:srgbClr val="18364A"/>
                </a:solidFill>
                <a:latin typeface="Arial"/>
                <a:ea typeface="Arial"/>
                <a:cs typeface="Arial"/>
              </a:defRPr>
            </a:pPr>
            <a:r>
              <a:rPr sz="1725" b="1">
                <a:solidFill>
                  <a:srgbClr val="18364A"/>
                </a:solidFill>
                <a:latin typeface="Arial"/>
                <a:ea typeface="Arial"/>
                <a:cs typeface="Arial"/>
              </a:rPr>
              <a:t>Read and cross-check it</a:t>
            </a:r>
          </a:p>
        </p:txBody>
      </p:sp>
      <p:sp>
        <p:nvSpPr>
          <p:cNvPr id="10" name="">
            <a:extLst xmlns:a="http://schemas.openxmlformats.org/drawingml/2006/main">
              <a:ext uri="{FF2B5EF4-FFF2-40B4-BE49-F238E27FC236}">
                <a16:creationId xmlns:a16="http://schemas.microsoft.com/office/drawing/2014/main" id="{787F0673-B248-48CD-BC83-F6799463EF47}"/>
              </a:ext>
            </a:extLst>
          </p:cNvPr>
          <p:cNvSpPr>
            <a:spLocks xmlns:a="http://schemas.openxmlformats.org/drawingml/2006/main" noGrp="1"/>
          </p:cNvSpPr>
          <p:nvPr/>
        </p:nvSpPr>
        <p:spPr>
          <a:xfrm xmlns:a="http://schemas.openxmlformats.org/drawingml/2006/main">
            <a:off x="1362075" y="4067175"/>
            <a:ext cx="5191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2082"/>
          </a:bodyPr>
          <a:lstStyle xmlns:a="http://schemas.openxmlformats.org/drawingml/2006/main"/>
          <a:p xmlns:a="http://schemas.openxmlformats.org/drawingml/2006/main">
            <a:pPr>
              <a:lnSpc>
                <a:spcPct val="104000"/>
              </a:lnSpc>
              <a:buNone/>
              <a:defRPr sz="1500">
                <a:solidFill>
                  <a:srgbClr val="29485A"/>
                </a:solidFill>
                <a:latin typeface="Arial"/>
                <a:ea typeface="Arial"/>
                <a:cs typeface="Arial"/>
              </a:defRPr>
            </a:pPr>
            <a:r>
              <a:rPr sz="1500">
                <a:solidFill>
                  <a:srgbClr val="29485A"/>
                </a:solidFill>
                <a:latin typeface="Arial"/>
                <a:ea typeface="Arial"/>
                <a:cs typeface="Arial"/>
              </a:rPr>
              <a:t>AI extracts names, SEBI numbers, links, claims, and visible warning signs. Voice can be transcribed in supported languages.</a:t>
            </a:r>
          </a:p>
        </p:txBody>
      </p:sp>
      <p:sp>
        <p:nvSpPr>
          <p:cNvPr id="11" name="">
            <a:extLst xmlns:a="http://schemas.openxmlformats.org/drawingml/2006/main">
              <a:ext uri="{FF2B5EF4-FFF2-40B4-BE49-F238E27FC236}">
                <a16:creationId xmlns:a16="http://schemas.microsoft.com/office/drawing/2014/main" id="{D6168041-A766-460B-B24A-201072276327}"/>
              </a:ext>
            </a:extLst>
          </p:cNvPr>
          <p:cNvSpPr>
            <a:spLocks xmlns:a="http://schemas.openxmlformats.org/drawingml/2006/main" noGrp="1"/>
          </p:cNvSpPr>
          <p:nvPr/>
        </p:nvSpPr>
        <p:spPr>
          <a:xfrm xmlns:a="http://schemas.openxmlformats.org/drawingml/2006/main">
            <a:off x="742950" y="4695825"/>
            <a:ext cx="5143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4615"/>
          </a:bodyPr>
          <a:lstStyle xmlns:a="http://schemas.openxmlformats.org/drawingml/2006/main"/>
          <a:p xmlns:a="http://schemas.openxmlformats.org/drawingml/2006/main">
            <a:pPr>
              <a:buNone/>
              <a:defRPr sz="1950" b="1">
                <a:solidFill>
                  <a:srgbClr val="C55F43"/>
                </a:solidFill>
                <a:latin typeface="Arial"/>
                <a:ea typeface="Arial"/>
                <a:cs typeface="Arial"/>
              </a:defRPr>
            </a:pPr>
            <a:r>
              <a:rPr sz="1950" b="1">
                <a:solidFill>
                  <a:srgbClr val="C55F43"/>
                </a:solidFill>
                <a:latin typeface="Arial"/>
                <a:ea typeface="Arial"/>
                <a:cs typeface="Arial"/>
              </a:rPr>
              <a:t>03</a:t>
            </a:r>
          </a:p>
        </p:txBody>
      </p:sp>
      <p:sp>
        <p:nvSpPr>
          <p:cNvPr id="12" name="">
            <a:extLst xmlns:a="http://schemas.openxmlformats.org/drawingml/2006/main">
              <a:ext uri="{FF2B5EF4-FFF2-40B4-BE49-F238E27FC236}">
                <a16:creationId xmlns:a16="http://schemas.microsoft.com/office/drawing/2014/main" id="{79876FF9-166C-44A5-8AD0-6AEC69E5AEB1}"/>
              </a:ext>
            </a:extLst>
          </p:cNvPr>
          <p:cNvSpPr>
            <a:spLocks xmlns:a="http://schemas.openxmlformats.org/drawingml/2006/main" noGrp="1"/>
          </p:cNvSpPr>
          <p:nvPr/>
        </p:nvSpPr>
        <p:spPr>
          <a:xfrm xmlns:a="http://schemas.openxmlformats.org/drawingml/2006/main">
            <a:off x="1362075" y="4695825"/>
            <a:ext cx="5191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3913"/>
          </a:bodyPr>
          <a:lstStyle xmlns:a="http://schemas.openxmlformats.org/drawingml/2006/main"/>
          <a:p xmlns:a="http://schemas.openxmlformats.org/drawingml/2006/main">
            <a:pPr>
              <a:buNone/>
              <a:defRPr sz="1725" b="1">
                <a:solidFill>
                  <a:srgbClr val="18364A"/>
                </a:solidFill>
                <a:latin typeface="Arial"/>
                <a:ea typeface="Arial"/>
                <a:cs typeface="Arial"/>
              </a:defRPr>
            </a:pPr>
            <a:r>
              <a:rPr sz="1725" b="1">
                <a:solidFill>
                  <a:srgbClr val="18364A"/>
                </a:solidFill>
                <a:latin typeface="Arial"/>
                <a:ea typeface="Arial"/>
                <a:cs typeface="Arial"/>
              </a:rPr>
              <a:t>Inspect each result</a:t>
            </a:r>
          </a:p>
        </p:txBody>
      </p:sp>
      <p:sp>
        <p:nvSpPr>
          <p:cNvPr id="13" name="">
            <a:extLst xmlns:a="http://schemas.openxmlformats.org/drawingml/2006/main">
              <a:ext uri="{FF2B5EF4-FFF2-40B4-BE49-F238E27FC236}">
                <a16:creationId xmlns:a16="http://schemas.microsoft.com/office/drawing/2014/main" id="{637F6306-8600-4EB6-B5DD-C97D212D4201}"/>
              </a:ext>
            </a:extLst>
          </p:cNvPr>
          <p:cNvSpPr>
            <a:spLocks xmlns:a="http://schemas.openxmlformats.org/drawingml/2006/main" noGrp="1"/>
          </p:cNvSpPr>
          <p:nvPr/>
        </p:nvSpPr>
        <p:spPr>
          <a:xfrm xmlns:a="http://schemas.openxmlformats.org/drawingml/2006/main">
            <a:off x="1362075" y="5029200"/>
            <a:ext cx="5191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nSpc>
                <a:spcPct val="104000"/>
              </a:lnSpc>
              <a:buNone/>
              <a:defRPr sz="1500">
                <a:solidFill>
                  <a:srgbClr val="29485A"/>
                </a:solidFill>
                <a:latin typeface="Arial"/>
                <a:ea typeface="Arial"/>
                <a:cs typeface="Arial"/>
              </a:defRPr>
            </a:pPr>
            <a:r>
              <a:rPr sz="1500">
                <a:solidFill>
                  <a:srgbClr val="29485A"/>
                </a:solidFill>
                <a:latin typeface="Arial"/>
                <a:ea typeface="Arial"/>
                <a:cs typeface="Arial"/>
              </a:rPr>
              <a:t>Review the summary, risk score, registration comparison, and a separate explanation for each URL.</a:t>
            </a:r>
          </a:p>
        </p:txBody>
      </p:sp>
      <p:sp>
        <p:nvSpPr>
          <p:cNvPr id="14" name="">
            <a:extLst xmlns:a="http://schemas.openxmlformats.org/drawingml/2006/main">
              <a:ext uri="{FF2B5EF4-FFF2-40B4-BE49-F238E27FC236}">
                <a16:creationId xmlns:a16="http://schemas.microsoft.com/office/drawing/2014/main" id="{E53270FB-192B-4FA5-A172-C14263B90D49}"/>
              </a:ext>
            </a:extLst>
          </p:cNvPr>
          <p:cNvSpPr>
            <a:spLocks xmlns:a="http://schemas.openxmlformats.org/drawingml/2006/main" noGrp="1"/>
          </p:cNvSpPr>
          <p:nvPr/>
        </p:nvSpPr>
        <p:spPr>
          <a:xfrm xmlns:a="http://schemas.openxmlformats.org/drawingml/2006/main">
            <a:off x="7162800" y="2343150"/>
            <a:ext cx="428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0208"/>
          </a:bodyPr>
          <a:lstStyle xmlns:a="http://schemas.openxmlformats.org/drawingml/2006/main"/>
          <a:p xmlns:a="http://schemas.openxmlformats.org/drawingml/2006/main">
            <a:pPr>
              <a:buNone/>
              <a:defRPr sz="1200" b="1">
                <a:solidFill>
                  <a:srgbClr val="397C75"/>
                </a:solidFill>
                <a:latin typeface="Arial"/>
                <a:ea typeface="Arial"/>
                <a:cs typeface="Arial"/>
              </a:defRPr>
            </a:pPr>
            <a:r>
              <a:rPr sz="1200" b="1">
                <a:solidFill>
                  <a:srgbClr val="397C75"/>
                </a:solidFill>
                <a:latin typeface="Arial"/>
                <a:ea typeface="Arial"/>
                <a:cs typeface="Arial"/>
              </a:rPr>
              <a:t>HOW THE CHECKS ARE COMBINED</a:t>
            </a:r>
          </a:p>
        </p:txBody>
      </p:sp>
      <p:sp>
        <p:nvSpPr>
          <p:cNvPr id="15" name="">
            <a:extLst xmlns:a="http://schemas.openxmlformats.org/drawingml/2006/main">
              <a:ext uri="{FF2B5EF4-FFF2-40B4-BE49-F238E27FC236}">
                <a16:creationId xmlns:a16="http://schemas.microsoft.com/office/drawing/2014/main" id="{9CD7E74E-D098-4F29-9700-2C5BC1049928}"/>
              </a:ext>
            </a:extLst>
          </p:cNvPr>
          <p:cNvSpPr>
            <a:spLocks xmlns:a="http://schemas.openxmlformats.org/drawingml/2006/main" noGrp="1"/>
          </p:cNvSpPr>
          <p:nvPr/>
        </p:nvSpPr>
        <p:spPr>
          <a:xfrm xmlns:a="http://schemas.openxmlformats.org/drawingml/2006/main">
            <a:off x="7162800" y="2771775"/>
            <a:ext cx="4286250" cy="205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nSpc>
                <a:spcPct val="110000"/>
              </a:lnSpc>
              <a:buNone/>
              <a:defRPr sz="1575">
                <a:solidFill>
                  <a:srgbClr val="18364A"/>
                </a:solidFill>
                <a:latin typeface="Arial"/>
                <a:ea typeface="Arial"/>
                <a:cs typeface="Arial"/>
              </a:defRPr>
            </a:pPr>
            <a:r>
              <a:rPr sz="1575">
                <a:solidFill>
                  <a:srgbClr val="18364A"/>
                </a:solidFill>
                <a:latin typeface="Arial"/>
                <a:ea typeface="Arial"/>
                <a:cs typeface="Arial"/>
              </a:rPr>
              <a:t>Qwen3-VL:8B reads visual evidence. AI4Bharat with Sherpa-ONNX handles supported voice transcription. Local rules look for pressure tactics and unusually high return claims. Registration and URL checks compare the extracted details with local SEBI records and configured company domains.</a:t>
            </a:r>
          </a:p>
        </p:txBody>
      </p:sp>
      <p:sp>
        <p:nvSpPr>
          <p:cNvPr id="16" name="">
            <a:extLst xmlns:a="http://schemas.openxmlformats.org/drawingml/2006/main">
              <a:ext uri="{FF2B5EF4-FFF2-40B4-BE49-F238E27FC236}">
                <a16:creationId xmlns:a16="http://schemas.microsoft.com/office/drawing/2014/main" id="{6D3216F7-93F6-4DED-BF08-49CBA4676F71}"/>
              </a:ext>
            </a:extLst>
          </p:cNvPr>
          <p:cNvSpPr>
            <a:spLocks xmlns:a="http://schemas.openxmlformats.org/drawingml/2006/main" noGrp="1"/>
          </p:cNvSpPr>
          <p:nvPr/>
        </p:nvSpPr>
        <p:spPr>
          <a:xfrm xmlns:a="http://schemas.openxmlformats.org/drawingml/2006/main">
            <a:off x="7162800" y="4953000"/>
            <a:ext cx="4286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9792"/>
          </a:bodyPr>
          <a:lstStyle xmlns:a="http://schemas.openxmlformats.org/drawingml/2006/main"/>
          <a:p xmlns:a="http://schemas.openxmlformats.org/drawingml/2006/main">
            <a:pPr>
              <a:buNone/>
              <a:defRPr sz="1200" b="1">
                <a:solidFill>
                  <a:srgbClr val="B38736"/>
                </a:solidFill>
                <a:latin typeface="Arial"/>
                <a:ea typeface="Arial"/>
                <a:cs typeface="Arial"/>
              </a:defRPr>
            </a:pPr>
            <a:r>
              <a:rPr sz="1200" b="1">
                <a:solidFill>
                  <a:srgbClr val="B38736"/>
                </a:solidFill>
                <a:latin typeface="Arial"/>
                <a:ea typeface="Arial"/>
                <a:cs typeface="Arial"/>
              </a:rPr>
              <a:t>USE THE RESULT CAREFULLY</a:t>
            </a:r>
          </a:p>
        </p:txBody>
      </p:sp>
      <p:sp>
        <p:nvSpPr>
          <p:cNvPr id="17" name="">
            <a:extLst xmlns:a="http://schemas.openxmlformats.org/drawingml/2006/main">
              <a:ext uri="{FF2B5EF4-FFF2-40B4-BE49-F238E27FC236}">
                <a16:creationId xmlns:a16="http://schemas.microsoft.com/office/drawing/2014/main" id="{E7EACD7B-6D5B-4A1A-ACB4-003335CCA527}"/>
              </a:ext>
            </a:extLst>
          </p:cNvPr>
          <p:cNvSpPr>
            <a:spLocks xmlns:a="http://schemas.openxmlformats.org/drawingml/2006/main" noGrp="1"/>
          </p:cNvSpPr>
          <p:nvPr/>
        </p:nvSpPr>
        <p:spPr>
          <a:xfrm xmlns:a="http://schemas.openxmlformats.org/drawingml/2006/main">
            <a:off x="7162800" y="5257800"/>
            <a:ext cx="42862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6630"/>
          </a:bodyPr>
          <a:lstStyle xmlns:a="http://schemas.openxmlformats.org/drawingml/2006/main"/>
          <a:p xmlns:a="http://schemas.openxmlformats.org/drawingml/2006/main">
            <a:pPr>
              <a:lnSpc>
                <a:spcPct val="105000"/>
              </a:lnSpc>
              <a:buNone/>
              <a:defRPr sz="1425">
                <a:solidFill>
                  <a:srgbClr val="637783"/>
                </a:solidFill>
                <a:latin typeface="Arial"/>
                <a:ea typeface="Arial"/>
                <a:cs typeface="Arial"/>
              </a:defRPr>
            </a:pPr>
            <a:r>
              <a:rPr sz="1425">
                <a:solidFill>
                  <a:srgbClr val="637783"/>
                </a:solidFill>
                <a:latin typeface="Arial"/>
                <a:ea typeface="Arial"/>
                <a:cs typeface="Arial"/>
              </a:rPr>
              <a:t>This is an initial screening. Local records are not a live SEBI lookup, and a risk score is not an official finding that fraud occurred.</a:t>
            </a:r>
          </a:p>
        </p:txBody>
      </p:sp>
      <p:sp>
        <p:nvSpPr>
          <p:cNvPr id="18" name="">
            <a:extLst xmlns:a="http://schemas.openxmlformats.org/drawingml/2006/main">
              <a:ext uri="{FF2B5EF4-FFF2-40B4-BE49-F238E27FC236}">
                <a16:creationId xmlns:a16="http://schemas.microsoft.com/office/drawing/2014/main" id="{AD65C0D8-6E05-4B5A-92E8-DA8485FDCFB2}"/>
              </a:ext>
            </a:extLst>
          </p:cNvPr>
          <p:cNvSpPr>
            <a:spLocks xmlns:a="http://schemas.openxmlformats.org/drawingml/2006/main" noGrp="1"/>
          </p:cNvSpPr>
          <p:nvPr/>
        </p:nvSpPr>
        <p:spPr>
          <a:xfrm xmlns:a="http://schemas.openxmlformats.org/drawingml/2006/main">
            <a:off x="742950" y="6115050"/>
            <a:ext cx="107156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buNone/>
              <a:defRPr sz="1200">
                <a:solidFill>
                  <a:srgbClr val="637783"/>
                </a:solidFill>
                <a:latin typeface="Arial"/>
                <a:ea typeface="Arial"/>
                <a:cs typeface="Arial"/>
              </a:defRPr>
            </a:pPr>
            <a:r>
              <a:rPr sz="1200">
                <a:solidFill>
                  <a:srgbClr val="637783"/>
                </a:solidFill>
                <a:latin typeface="Arial"/>
                <a:ea typeface="Arial"/>
                <a:cs typeface="Arial"/>
              </a:rPr>
              <a:t>Models and tools: Qwen3-VL:8B  /  AI4Bharat  /  Sherpa-ONNX  /  FastAPI  /  SQLite</a:t>
            </a:r>
          </a:p>
        </p:txBody>
      </p:sp>
    </p:spTree>
    <p:extLst>
      <p:ext uri="{BB962C8B-B14F-4D97-AF65-F5344CB8AC3E}">
        <p14:creationId xmlns:p14="http://schemas.microsoft.com/office/powerpoint/2010/main" val="1511281332"/>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4294CCA1-FEF4-4D53-930A-214B473D44B9}"/>
              </a:ext>
            </a:extLst>
          </p:cNvPr>
          <p:cNvSpPr>
            <a:spLocks xmlns:a="http://schemas.openxmlformats.org/drawingml/2006/main" noGrp="1"/>
          </p:cNvSpPr>
          <p:nvPr/>
        </p:nvSpPr>
        <p:spPr>
          <a:xfrm xmlns:a="http://schemas.openxmlformats.org/drawingml/2006/main">
            <a:off x="685800" y="333375"/>
            <a:ext cx="1066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00" b="1">
                <a:solidFill>
                  <a:srgbClr val="C55F43"/>
                </a:solidFill>
                <a:latin typeface="Arial"/>
                <a:ea typeface="Arial"/>
                <a:cs typeface="Arial"/>
              </a:defRPr>
            </a:pPr>
            <a:r>
              <a:rPr sz="1200" b="1">
                <a:solidFill>
                  <a:srgbClr val="C55F43"/>
                </a:solidFill>
                <a:latin typeface="Arial"/>
                <a:ea typeface="Arial"/>
                <a:cs typeface="Arial"/>
              </a:rPr>
              <a:t>SANGYAN HACKATHON     /     05     NIVESH</a:t>
            </a:r>
          </a:p>
        </p:txBody>
      </p:sp>
      <p:sp>
        <p:nvSpPr>
          <p:cNvPr id="2" name="">
            <a:extLst xmlns:a="http://schemas.openxmlformats.org/drawingml/2006/main">
              <a:ext uri="{FF2B5EF4-FFF2-40B4-BE49-F238E27FC236}">
                <a16:creationId xmlns:a16="http://schemas.microsoft.com/office/drawing/2014/main" id="{72300DA0-5076-4B2F-82A7-AF1AF603FAEB}"/>
              </a:ext>
            </a:extLst>
          </p:cNvPr>
          <p:cNvSpPr>
            <a:spLocks xmlns:a="http://schemas.openxmlformats.org/drawingml/2006/main" noGrp="1"/>
          </p:cNvSpPr>
          <p:nvPr/>
        </p:nvSpPr>
        <p:spPr>
          <a:xfrm xmlns:a="http://schemas.openxmlformats.org/drawingml/2006/main">
            <a:off x="685800" y="714375"/>
            <a:ext cx="108108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300" b="1">
                <a:solidFill>
                  <a:srgbClr val="18364A"/>
                </a:solidFill>
                <a:latin typeface="Arial"/>
                <a:ea typeface="Arial"/>
                <a:cs typeface="Arial"/>
              </a:defRPr>
            </a:pPr>
            <a:r>
              <a:rPr sz="3300" b="1">
                <a:solidFill>
                  <a:srgbClr val="18364A"/>
                </a:solidFill>
                <a:latin typeface="Arial"/>
                <a:ea typeface="Arial"/>
                <a:cs typeface="Arial"/>
              </a:rPr>
              <a:t>Plain-Language Disclosure Reader</a:t>
            </a:r>
          </a:p>
        </p:txBody>
      </p:sp>
      <p:sp>
        <p:nvSpPr>
          <p:cNvPr id="3" name="">
            <a:extLst xmlns:a="http://schemas.openxmlformats.org/drawingml/2006/main">
              <a:ext uri="{FF2B5EF4-FFF2-40B4-BE49-F238E27FC236}">
                <a16:creationId xmlns:a16="http://schemas.microsoft.com/office/drawing/2014/main" id="{B6975815-FBDA-4480-BD42-269BF2992640}"/>
              </a:ext>
            </a:extLst>
          </p:cNvPr>
          <p:cNvSpPr>
            <a:spLocks xmlns:a="http://schemas.openxmlformats.org/drawingml/2006/main" noGrp="1"/>
          </p:cNvSpPr>
          <p:nvPr/>
        </p:nvSpPr>
        <p:spPr>
          <a:xfrm xmlns:a="http://schemas.openxmlformats.org/drawingml/2006/main">
            <a:off x="723900" y="1457325"/>
            <a:ext cx="10572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6451"/>
          </a:bodyPr>
          <a:lstStyle xmlns:a="http://schemas.openxmlformats.org/drawingml/2006/main"/>
          <a:p xmlns:a="http://schemas.openxmlformats.org/drawingml/2006/main">
            <a:pPr>
              <a:lnSpc>
                <a:spcPct val="108000"/>
              </a:lnSpc>
              <a:buNone/>
              <a:defRPr sz="1800">
                <a:solidFill>
                  <a:srgbClr val="637783"/>
                </a:solidFill>
                <a:latin typeface="Arial"/>
                <a:ea typeface="Arial"/>
                <a:cs typeface="Arial"/>
              </a:defRPr>
            </a:pPr>
            <a:r>
              <a:rPr sz="1800">
                <a:solidFill>
                  <a:srgbClr val="637783"/>
                </a:solidFill>
                <a:latin typeface="Arial"/>
                <a:ea typeface="Arial"/>
                <a:cs typeface="Arial"/>
              </a:rPr>
              <a:t>Upload a screenshot or PDF of terms and conditions. Get the important points explained in your selected language.</a:t>
            </a:r>
          </a:p>
        </p:txBody>
      </p:sp>
      <p:sp>
        <p:nvSpPr>
          <p:cNvPr id="4" name="">
            <a:extLst xmlns:a="http://schemas.openxmlformats.org/drawingml/2006/main">
              <a:ext uri="{FF2B5EF4-FFF2-40B4-BE49-F238E27FC236}">
                <a16:creationId xmlns:a16="http://schemas.microsoft.com/office/drawing/2014/main" id="{90BC81A4-D90F-4100-AB09-39E025AAC27F}"/>
              </a:ext>
            </a:extLst>
          </p:cNvPr>
          <p:cNvSpPr>
            <a:spLocks xmlns:a="http://schemas.openxmlformats.org/drawingml/2006/main" noGrp="1"/>
          </p:cNvSpPr>
          <p:nvPr/>
        </p:nvSpPr>
        <p:spPr>
          <a:xfrm xmlns:a="http://schemas.openxmlformats.org/drawingml/2006/main">
            <a:off x="2190750" y="2800350"/>
            <a:ext cx="7810500" cy="0"/>
          </a:xfrm>
          <a:prstGeom xmlns:a="http://schemas.openxmlformats.org/drawingml/2006/main" prst="line">
            <a:avLst/>
          </a:prstGeom>
          <a:noFill xmlns:a="http://schemas.openxmlformats.org/drawingml/2006/main"/>
          <a:ln xmlns:a="http://schemas.openxmlformats.org/drawingml/2006/main" w="28575">
            <a:solidFill>
              <a:srgbClr val="D6C9B7"/>
            </a:solidFill>
            <a:prstDash val="solid"/>
          </a:ln>
        </p:spPr>
      </p:sp>
      <p:sp>
        <p:nvSpPr>
          <p:cNvPr id="5" name="">
            <a:extLst xmlns:a="http://schemas.openxmlformats.org/drawingml/2006/main">
              <a:ext uri="{FF2B5EF4-FFF2-40B4-BE49-F238E27FC236}">
                <a16:creationId xmlns:a16="http://schemas.microsoft.com/office/drawing/2014/main" id="{E2BAE7CE-BAF3-468B-A71C-209ADF8673E0}"/>
              </a:ext>
            </a:extLst>
          </p:cNvPr>
          <p:cNvSpPr>
            <a:spLocks xmlns:a="http://schemas.openxmlformats.org/drawingml/2006/main" noGrp="1"/>
          </p:cNvSpPr>
          <p:nvPr/>
        </p:nvSpPr>
        <p:spPr>
          <a:xfrm xmlns:a="http://schemas.openxmlformats.org/drawingml/2006/main">
            <a:off x="1914525" y="2524125"/>
            <a:ext cx="552450" cy="552450"/>
          </a:xfrm>
          <a:prstGeom xmlns:a="http://schemas.openxmlformats.org/drawingml/2006/main" prst="ellipse">
            <a:avLst/>
          </a:prstGeom>
          <a:solidFill xmlns:a="http://schemas.openxmlformats.org/drawingml/2006/main">
            <a:srgbClr val="C55F43"/>
          </a:solidFill>
          <a:ln xmlns:a="http://schemas.openxmlformats.org/drawingml/2006/main" w="9525">
            <a:solidFill>
              <a:srgbClr val="C55F43"/>
            </a:solidFill>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ctr">
              <a:defRPr sz="1500" b="1">
                <a:solidFill>
                  <a:srgbClr val="FFFDF8"/>
                </a:solidFill>
                <a:latin typeface="Arial"/>
                <a:ea typeface="Arial"/>
                <a:cs typeface="Arial"/>
              </a:defRPr>
            </a:pPr>
            <a:r>
              <a:rPr sz="1500" b="1">
                <a:solidFill>
                  <a:srgbClr val="FFFDF8"/>
                </a:solidFill>
                <a:latin typeface="Arial"/>
                <a:ea typeface="Arial"/>
                <a:cs typeface="Arial"/>
              </a:rPr>
              <a:t>01</a:t>
            </a:r>
          </a:p>
        </p:txBody>
      </p:sp>
      <p:sp>
        <p:nvSpPr>
          <p:cNvPr id="6" name="">
            <a:extLst xmlns:a="http://schemas.openxmlformats.org/drawingml/2006/main">
              <a:ext uri="{FF2B5EF4-FFF2-40B4-BE49-F238E27FC236}">
                <a16:creationId xmlns:a16="http://schemas.microsoft.com/office/drawing/2014/main" id="{6DA0F332-1F15-4C64-9724-CF988E55D5A1}"/>
              </a:ext>
            </a:extLst>
          </p:cNvPr>
          <p:cNvSpPr>
            <a:spLocks xmlns:a="http://schemas.openxmlformats.org/drawingml/2006/main" noGrp="1"/>
          </p:cNvSpPr>
          <p:nvPr/>
        </p:nvSpPr>
        <p:spPr>
          <a:xfrm xmlns:a="http://schemas.openxmlformats.org/drawingml/2006/main">
            <a:off x="695325" y="3248025"/>
            <a:ext cx="29908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650" b="1">
                <a:solidFill>
                  <a:srgbClr val="18364A"/>
                </a:solidFill>
                <a:latin typeface="Arial"/>
                <a:ea typeface="Arial"/>
                <a:cs typeface="Arial"/>
              </a:defRPr>
            </a:pPr>
            <a:r>
              <a:rPr sz="1650" b="1">
                <a:solidFill>
                  <a:srgbClr val="18364A"/>
                </a:solidFill>
                <a:latin typeface="Arial"/>
                <a:ea typeface="Arial"/>
                <a:cs typeface="Arial"/>
              </a:rPr>
              <a:t>Upload the document</a:t>
            </a:r>
          </a:p>
        </p:txBody>
      </p:sp>
      <p:sp>
        <p:nvSpPr>
          <p:cNvPr id="7" name="">
            <a:extLst xmlns:a="http://schemas.openxmlformats.org/drawingml/2006/main">
              <a:ext uri="{FF2B5EF4-FFF2-40B4-BE49-F238E27FC236}">
                <a16:creationId xmlns:a16="http://schemas.microsoft.com/office/drawing/2014/main" id="{046EF071-4F05-4AA9-91EB-06B6493A872F}"/>
              </a:ext>
            </a:extLst>
          </p:cNvPr>
          <p:cNvSpPr>
            <a:spLocks xmlns:a="http://schemas.openxmlformats.org/drawingml/2006/main" noGrp="1"/>
          </p:cNvSpPr>
          <p:nvPr/>
        </p:nvSpPr>
        <p:spPr>
          <a:xfrm xmlns:a="http://schemas.openxmlformats.org/drawingml/2006/main">
            <a:off x="695325" y="3629025"/>
            <a:ext cx="29908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1425">
                <a:solidFill>
                  <a:srgbClr val="29485A"/>
                </a:solidFill>
                <a:latin typeface="Arial"/>
                <a:ea typeface="Arial"/>
                <a:cs typeface="Arial"/>
              </a:defRPr>
            </a:pPr>
            <a:r>
              <a:rPr sz="1425">
                <a:solidFill>
                  <a:srgbClr val="29485A"/>
                </a:solidFill>
                <a:latin typeface="Arial"/>
                <a:ea typeface="Arial"/>
                <a:cs typeface="Arial"/>
              </a:rPr>
              <a:t>Choose a screenshot or PDF. Select the language you want for the explanation.</a:t>
            </a:r>
          </a:p>
        </p:txBody>
      </p:sp>
      <p:sp>
        <p:nvSpPr>
          <p:cNvPr id="8" name="">
            <a:extLst xmlns:a="http://schemas.openxmlformats.org/drawingml/2006/main">
              <a:ext uri="{FF2B5EF4-FFF2-40B4-BE49-F238E27FC236}">
                <a16:creationId xmlns:a16="http://schemas.microsoft.com/office/drawing/2014/main" id="{DFA84F60-B2F8-4D43-8BC8-7674834D4381}"/>
              </a:ext>
            </a:extLst>
          </p:cNvPr>
          <p:cNvSpPr>
            <a:spLocks xmlns:a="http://schemas.openxmlformats.org/drawingml/2006/main" noGrp="1"/>
          </p:cNvSpPr>
          <p:nvPr/>
        </p:nvSpPr>
        <p:spPr>
          <a:xfrm xmlns:a="http://schemas.openxmlformats.org/drawingml/2006/main">
            <a:off x="5819775" y="2524125"/>
            <a:ext cx="552450" cy="552450"/>
          </a:xfrm>
          <a:prstGeom xmlns:a="http://schemas.openxmlformats.org/drawingml/2006/main" prst="ellipse">
            <a:avLst/>
          </a:prstGeom>
          <a:solidFill xmlns:a="http://schemas.openxmlformats.org/drawingml/2006/main">
            <a:srgbClr val="C55F43"/>
          </a:solidFill>
          <a:ln xmlns:a="http://schemas.openxmlformats.org/drawingml/2006/main" w="9525">
            <a:solidFill>
              <a:srgbClr val="C55F43"/>
            </a:solidFill>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ctr">
              <a:defRPr sz="1500" b="1">
                <a:solidFill>
                  <a:srgbClr val="FFFDF8"/>
                </a:solidFill>
                <a:latin typeface="Arial"/>
                <a:ea typeface="Arial"/>
                <a:cs typeface="Arial"/>
              </a:defRPr>
            </a:pPr>
            <a:r>
              <a:rPr sz="1500" b="1">
                <a:solidFill>
                  <a:srgbClr val="FFFDF8"/>
                </a:solidFill>
                <a:latin typeface="Arial"/>
                <a:ea typeface="Arial"/>
                <a:cs typeface="Arial"/>
              </a:rPr>
              <a:t>02</a:t>
            </a:r>
          </a:p>
        </p:txBody>
      </p:sp>
      <p:sp>
        <p:nvSpPr>
          <p:cNvPr id="9" name="">
            <a:extLst xmlns:a="http://schemas.openxmlformats.org/drawingml/2006/main">
              <a:ext uri="{FF2B5EF4-FFF2-40B4-BE49-F238E27FC236}">
                <a16:creationId xmlns:a16="http://schemas.microsoft.com/office/drawing/2014/main" id="{1D67EB71-6CB9-4EAF-97D2-72BC0F28F908}"/>
              </a:ext>
            </a:extLst>
          </p:cNvPr>
          <p:cNvSpPr>
            <a:spLocks xmlns:a="http://schemas.openxmlformats.org/drawingml/2006/main" noGrp="1"/>
          </p:cNvSpPr>
          <p:nvPr/>
        </p:nvSpPr>
        <p:spPr>
          <a:xfrm xmlns:a="http://schemas.openxmlformats.org/drawingml/2006/main">
            <a:off x="4600575" y="3248025"/>
            <a:ext cx="29908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650" b="1">
                <a:solidFill>
                  <a:srgbClr val="18364A"/>
                </a:solidFill>
                <a:latin typeface="Arial"/>
                <a:ea typeface="Arial"/>
                <a:cs typeface="Arial"/>
              </a:defRPr>
            </a:pPr>
            <a:r>
              <a:rPr sz="1650" b="1">
                <a:solidFill>
                  <a:srgbClr val="18364A"/>
                </a:solidFill>
                <a:latin typeface="Arial"/>
                <a:ea typeface="Arial"/>
                <a:cs typeface="Arial"/>
              </a:rPr>
              <a:t>Read and translate</a:t>
            </a:r>
          </a:p>
        </p:txBody>
      </p:sp>
      <p:sp>
        <p:nvSpPr>
          <p:cNvPr id="10" name="">
            <a:extLst xmlns:a="http://schemas.openxmlformats.org/drawingml/2006/main">
              <a:ext uri="{FF2B5EF4-FFF2-40B4-BE49-F238E27FC236}">
                <a16:creationId xmlns:a16="http://schemas.microsoft.com/office/drawing/2014/main" id="{1B355010-8045-4868-8477-6C9C7BC82A62}"/>
              </a:ext>
            </a:extLst>
          </p:cNvPr>
          <p:cNvSpPr>
            <a:spLocks xmlns:a="http://schemas.openxmlformats.org/drawingml/2006/main" noGrp="1"/>
          </p:cNvSpPr>
          <p:nvPr/>
        </p:nvSpPr>
        <p:spPr>
          <a:xfrm xmlns:a="http://schemas.openxmlformats.org/drawingml/2006/main">
            <a:off x="4600575" y="3629025"/>
            <a:ext cx="29908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1425">
                <a:solidFill>
                  <a:srgbClr val="29485A"/>
                </a:solidFill>
                <a:latin typeface="Arial"/>
                <a:ea typeface="Arial"/>
                <a:cs typeface="Arial"/>
              </a:defRPr>
            </a:pPr>
            <a:r>
              <a:rPr sz="1425">
                <a:solidFill>
                  <a:srgbClr val="29485A"/>
                </a:solidFill>
                <a:latin typeface="Arial"/>
                <a:ea typeface="Arial"/>
                <a:cs typeface="Arial"/>
              </a:rPr>
              <a:t>The system reads the document and explains the clauses in clear, everyday language.</a:t>
            </a:r>
          </a:p>
        </p:txBody>
      </p:sp>
      <p:sp>
        <p:nvSpPr>
          <p:cNvPr id="11" name="">
            <a:extLst xmlns:a="http://schemas.openxmlformats.org/drawingml/2006/main">
              <a:ext uri="{FF2B5EF4-FFF2-40B4-BE49-F238E27FC236}">
                <a16:creationId xmlns:a16="http://schemas.microsoft.com/office/drawing/2014/main" id="{87BAD029-C8F6-4B6C-B90F-2867A8D202A9}"/>
              </a:ext>
            </a:extLst>
          </p:cNvPr>
          <p:cNvSpPr>
            <a:spLocks xmlns:a="http://schemas.openxmlformats.org/drawingml/2006/main" noGrp="1"/>
          </p:cNvSpPr>
          <p:nvPr/>
        </p:nvSpPr>
        <p:spPr>
          <a:xfrm xmlns:a="http://schemas.openxmlformats.org/drawingml/2006/main">
            <a:off x="9725025" y="2524125"/>
            <a:ext cx="552450" cy="552450"/>
          </a:xfrm>
          <a:prstGeom xmlns:a="http://schemas.openxmlformats.org/drawingml/2006/main" prst="ellipse">
            <a:avLst/>
          </a:prstGeom>
          <a:solidFill xmlns:a="http://schemas.openxmlformats.org/drawingml/2006/main">
            <a:srgbClr val="C55F43"/>
          </a:solidFill>
          <a:ln xmlns:a="http://schemas.openxmlformats.org/drawingml/2006/main" w="9525">
            <a:solidFill>
              <a:srgbClr val="C55F43"/>
            </a:solidFill>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ctr">
              <a:defRPr sz="1500" b="1">
                <a:solidFill>
                  <a:srgbClr val="FFFDF8"/>
                </a:solidFill>
                <a:latin typeface="Arial"/>
                <a:ea typeface="Arial"/>
                <a:cs typeface="Arial"/>
              </a:defRPr>
            </a:pPr>
            <a:r>
              <a:rPr sz="1500" b="1">
                <a:solidFill>
                  <a:srgbClr val="FFFDF8"/>
                </a:solidFill>
                <a:latin typeface="Arial"/>
                <a:ea typeface="Arial"/>
                <a:cs typeface="Arial"/>
              </a:rPr>
              <a:t>03</a:t>
            </a:r>
          </a:p>
        </p:txBody>
      </p:sp>
      <p:sp>
        <p:nvSpPr>
          <p:cNvPr id="12" name="">
            <a:extLst xmlns:a="http://schemas.openxmlformats.org/drawingml/2006/main">
              <a:ext uri="{FF2B5EF4-FFF2-40B4-BE49-F238E27FC236}">
                <a16:creationId xmlns:a16="http://schemas.microsoft.com/office/drawing/2014/main" id="{64294B1D-562A-4B77-90CF-95C7DFD47D02}"/>
              </a:ext>
            </a:extLst>
          </p:cNvPr>
          <p:cNvSpPr>
            <a:spLocks xmlns:a="http://schemas.openxmlformats.org/drawingml/2006/main" noGrp="1"/>
          </p:cNvSpPr>
          <p:nvPr/>
        </p:nvSpPr>
        <p:spPr>
          <a:xfrm xmlns:a="http://schemas.openxmlformats.org/drawingml/2006/main">
            <a:off x="8505825" y="3248025"/>
            <a:ext cx="29908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650" b="1">
                <a:solidFill>
                  <a:srgbClr val="18364A"/>
                </a:solidFill>
                <a:latin typeface="Arial"/>
                <a:ea typeface="Arial"/>
                <a:cs typeface="Arial"/>
              </a:defRPr>
            </a:pPr>
            <a:r>
              <a:rPr sz="1650" b="1">
                <a:solidFill>
                  <a:srgbClr val="18364A"/>
                </a:solidFill>
                <a:latin typeface="Arial"/>
                <a:ea typeface="Arial"/>
                <a:cs typeface="Arial"/>
              </a:rPr>
              <a:t>Review the findings</a:t>
            </a:r>
          </a:p>
        </p:txBody>
      </p:sp>
      <p:sp>
        <p:nvSpPr>
          <p:cNvPr id="13" name="">
            <a:extLst xmlns:a="http://schemas.openxmlformats.org/drawingml/2006/main">
              <a:ext uri="{FF2B5EF4-FFF2-40B4-BE49-F238E27FC236}">
                <a16:creationId xmlns:a16="http://schemas.microsoft.com/office/drawing/2014/main" id="{7D79B7D2-22F7-4B04-BB56-AA268FFDA55B}"/>
              </a:ext>
            </a:extLst>
          </p:cNvPr>
          <p:cNvSpPr>
            <a:spLocks xmlns:a="http://schemas.openxmlformats.org/drawingml/2006/main" noGrp="1"/>
          </p:cNvSpPr>
          <p:nvPr/>
        </p:nvSpPr>
        <p:spPr>
          <a:xfrm xmlns:a="http://schemas.openxmlformats.org/drawingml/2006/main">
            <a:off x="8505825" y="3629025"/>
            <a:ext cx="29908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1425">
                <a:solidFill>
                  <a:srgbClr val="29485A"/>
                </a:solidFill>
                <a:latin typeface="Arial"/>
                <a:ea typeface="Arial"/>
                <a:cs typeface="Arial"/>
              </a:defRPr>
            </a:pPr>
            <a:r>
              <a:rPr sz="1425">
                <a:solidFill>
                  <a:srgbClr val="29485A"/>
                </a:solidFill>
                <a:latin typeface="Arial"/>
                <a:ea typeface="Arial"/>
                <a:cs typeface="Arial"/>
              </a:rPr>
              <a:t>See useful points, potential red flags, and why each clause deserves attention.</a:t>
            </a:r>
          </a:p>
        </p:txBody>
      </p:sp>
      <p:sp>
        <p:nvSpPr>
          <p:cNvPr id="14" name="">
            <a:extLst xmlns:a="http://schemas.openxmlformats.org/drawingml/2006/main">
              <a:ext uri="{FF2B5EF4-FFF2-40B4-BE49-F238E27FC236}">
                <a16:creationId xmlns:a16="http://schemas.microsoft.com/office/drawing/2014/main" id="{D3BED976-06E2-4008-B67D-919338348A6A}"/>
              </a:ext>
            </a:extLst>
          </p:cNvPr>
          <p:cNvSpPr>
            <a:spLocks xmlns:a="http://schemas.openxmlformats.org/drawingml/2006/main" noGrp="1"/>
          </p:cNvSpPr>
          <p:nvPr/>
        </p:nvSpPr>
        <p:spPr>
          <a:xfrm xmlns:a="http://schemas.openxmlformats.org/drawingml/2006/main">
            <a:off x="742950" y="4810125"/>
            <a:ext cx="3238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00" b="1">
                <a:solidFill>
                  <a:srgbClr val="397C75"/>
                </a:solidFill>
                <a:latin typeface="Arial"/>
                <a:ea typeface="Arial"/>
                <a:cs typeface="Arial"/>
              </a:defRPr>
            </a:pPr>
            <a:r>
              <a:rPr sz="1200" b="1">
                <a:solidFill>
                  <a:srgbClr val="397C75"/>
                </a:solidFill>
                <a:latin typeface="Arial"/>
                <a:ea typeface="Arial"/>
                <a:cs typeface="Arial"/>
              </a:rPr>
              <a:t>WHAT YOU GET</a:t>
            </a:r>
          </a:p>
        </p:txBody>
      </p:sp>
      <p:sp>
        <p:nvSpPr>
          <p:cNvPr id="15" name="">
            <a:extLst xmlns:a="http://schemas.openxmlformats.org/drawingml/2006/main">
              <a:ext uri="{FF2B5EF4-FFF2-40B4-BE49-F238E27FC236}">
                <a16:creationId xmlns:a16="http://schemas.microsoft.com/office/drawing/2014/main" id="{554CD516-79A9-433C-9E13-25E9E766ADE9}"/>
              </a:ext>
            </a:extLst>
          </p:cNvPr>
          <p:cNvSpPr>
            <a:spLocks xmlns:a="http://schemas.openxmlformats.org/drawingml/2006/main" noGrp="1"/>
          </p:cNvSpPr>
          <p:nvPr/>
        </p:nvSpPr>
        <p:spPr>
          <a:xfrm xmlns:a="http://schemas.openxmlformats.org/drawingml/2006/main">
            <a:off x="742950" y="5153025"/>
            <a:ext cx="3238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6420"/>
          </a:bodyPr>
          <a:lstStyle xmlns:a="http://schemas.openxmlformats.org/drawingml/2006/main"/>
          <a:p xmlns:a="http://schemas.openxmlformats.org/drawingml/2006/main">
            <a:pPr>
              <a:lnSpc>
                <a:spcPct val="108000"/>
              </a:lnSpc>
              <a:buNone/>
              <a:defRPr sz="1500">
                <a:solidFill>
                  <a:srgbClr val="18364A"/>
                </a:solidFill>
                <a:latin typeface="Arial"/>
                <a:ea typeface="Arial"/>
                <a:cs typeface="Arial"/>
              </a:defRPr>
            </a:pPr>
            <a:r>
              <a:rPr sz="1500">
                <a:solidFill>
                  <a:srgbClr val="18364A"/>
                </a:solidFill>
                <a:latin typeface="Arial"/>
                <a:ea typeface="Arial"/>
                <a:cs typeface="Arial"/>
              </a:rPr>
              <a:t>A short summary, favorable terms, risks or unclear wording, and explanations in the selected language. Page or clause references help you find the original wording.</a:t>
            </a:r>
          </a:p>
        </p:txBody>
      </p:sp>
      <p:sp>
        <p:nvSpPr>
          <p:cNvPr id="16" name="">
            <a:extLst xmlns:a="http://schemas.openxmlformats.org/drawingml/2006/main">
              <a:ext uri="{FF2B5EF4-FFF2-40B4-BE49-F238E27FC236}">
                <a16:creationId xmlns:a16="http://schemas.microsoft.com/office/drawing/2014/main" id="{C5447A85-5102-4AD3-A67B-41BF4AC230E6}"/>
              </a:ext>
            </a:extLst>
          </p:cNvPr>
          <p:cNvSpPr>
            <a:spLocks xmlns:a="http://schemas.openxmlformats.org/drawingml/2006/main" noGrp="1"/>
          </p:cNvSpPr>
          <p:nvPr/>
        </p:nvSpPr>
        <p:spPr>
          <a:xfrm xmlns:a="http://schemas.openxmlformats.org/drawingml/2006/main">
            <a:off x="4476750" y="4810125"/>
            <a:ext cx="3238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00" b="1">
                <a:solidFill>
                  <a:srgbClr val="397C75"/>
                </a:solidFill>
                <a:latin typeface="Arial"/>
                <a:ea typeface="Arial"/>
                <a:cs typeface="Arial"/>
              </a:defRPr>
            </a:pPr>
            <a:r>
              <a:rPr sz="1200" b="1">
                <a:solidFill>
                  <a:srgbClr val="397C75"/>
                </a:solidFill>
                <a:latin typeface="Arial"/>
                <a:ea typeface="Arial"/>
                <a:cs typeface="Arial"/>
              </a:rPr>
              <a:t>HOW IT WORKS</a:t>
            </a:r>
          </a:p>
        </p:txBody>
      </p:sp>
      <p:sp>
        <p:nvSpPr>
          <p:cNvPr id="17" name="">
            <a:extLst xmlns:a="http://schemas.openxmlformats.org/drawingml/2006/main">
              <a:ext uri="{FF2B5EF4-FFF2-40B4-BE49-F238E27FC236}">
                <a16:creationId xmlns:a16="http://schemas.microsoft.com/office/drawing/2014/main" id="{965776D8-8B97-4A47-8BEE-7CAC04EF81C5}"/>
              </a:ext>
            </a:extLst>
          </p:cNvPr>
          <p:cNvSpPr>
            <a:spLocks xmlns:a="http://schemas.openxmlformats.org/drawingml/2006/main" noGrp="1"/>
          </p:cNvSpPr>
          <p:nvPr/>
        </p:nvSpPr>
        <p:spPr>
          <a:xfrm xmlns:a="http://schemas.openxmlformats.org/drawingml/2006/main">
            <a:off x="4476750" y="5153025"/>
            <a:ext cx="3238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nSpc>
                <a:spcPct val="108000"/>
              </a:lnSpc>
              <a:buNone/>
              <a:defRPr sz="1500">
                <a:solidFill>
                  <a:srgbClr val="18364A"/>
                </a:solidFill>
                <a:latin typeface="Arial"/>
                <a:ea typeface="Arial"/>
                <a:cs typeface="Arial"/>
              </a:defRPr>
            </a:pPr>
            <a:r>
              <a:rPr sz="1500">
                <a:solidFill>
                  <a:srgbClr val="18364A"/>
                </a:solidFill>
                <a:latin typeface="Arial"/>
                <a:ea typeface="Arial"/>
                <a:cs typeface="Arial"/>
              </a:rPr>
              <a:t>Qwen3-VL:8B reads screenshots and scanned pages. PDF text extraction and cached reviews help process documents and reuse earlier results.</a:t>
            </a:r>
          </a:p>
        </p:txBody>
      </p:sp>
      <p:sp>
        <p:nvSpPr>
          <p:cNvPr id="18" name="">
            <a:extLst xmlns:a="http://schemas.openxmlformats.org/drawingml/2006/main">
              <a:ext uri="{FF2B5EF4-FFF2-40B4-BE49-F238E27FC236}">
                <a16:creationId xmlns:a16="http://schemas.microsoft.com/office/drawing/2014/main" id="{C71F12D0-29B6-424B-B47F-E50B88349238}"/>
              </a:ext>
            </a:extLst>
          </p:cNvPr>
          <p:cNvSpPr>
            <a:spLocks xmlns:a="http://schemas.openxmlformats.org/drawingml/2006/main" noGrp="1"/>
          </p:cNvSpPr>
          <p:nvPr/>
        </p:nvSpPr>
        <p:spPr>
          <a:xfrm xmlns:a="http://schemas.openxmlformats.org/drawingml/2006/main">
            <a:off x="8210550" y="4810125"/>
            <a:ext cx="3238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00" b="1">
                <a:solidFill>
                  <a:srgbClr val="B38736"/>
                </a:solidFill>
                <a:latin typeface="Arial"/>
                <a:ea typeface="Arial"/>
                <a:cs typeface="Arial"/>
              </a:defRPr>
            </a:pPr>
            <a:r>
              <a:rPr sz="1200" b="1">
                <a:solidFill>
                  <a:srgbClr val="B38736"/>
                </a:solidFill>
                <a:latin typeface="Arial"/>
                <a:ea typeface="Arial"/>
                <a:cs typeface="Arial"/>
              </a:rPr>
              <a:t>IMPORTANT</a:t>
            </a:r>
          </a:p>
        </p:txBody>
      </p:sp>
      <p:sp>
        <p:nvSpPr>
          <p:cNvPr id="19" name="">
            <a:extLst xmlns:a="http://schemas.openxmlformats.org/drawingml/2006/main">
              <a:ext uri="{FF2B5EF4-FFF2-40B4-BE49-F238E27FC236}">
                <a16:creationId xmlns:a16="http://schemas.microsoft.com/office/drawing/2014/main" id="{E15F57FF-A555-41BF-B922-9593F2693E4B}"/>
              </a:ext>
            </a:extLst>
          </p:cNvPr>
          <p:cNvSpPr>
            <a:spLocks xmlns:a="http://schemas.openxmlformats.org/drawingml/2006/main" noGrp="1"/>
          </p:cNvSpPr>
          <p:nvPr/>
        </p:nvSpPr>
        <p:spPr>
          <a:xfrm xmlns:a="http://schemas.openxmlformats.org/drawingml/2006/main">
            <a:off x="8210550" y="5153025"/>
            <a:ext cx="3238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0682"/>
          </a:bodyPr>
          <a:lstStyle xmlns:a="http://schemas.openxmlformats.org/drawingml/2006/main"/>
          <a:p xmlns:a="http://schemas.openxmlformats.org/drawingml/2006/main">
            <a:pPr>
              <a:lnSpc>
                <a:spcPct val="108000"/>
              </a:lnSpc>
              <a:buNone/>
              <a:defRPr sz="1500">
                <a:solidFill>
                  <a:srgbClr val="637783"/>
                </a:solidFill>
                <a:latin typeface="Arial"/>
                <a:ea typeface="Arial"/>
                <a:cs typeface="Arial"/>
              </a:defRPr>
            </a:pPr>
            <a:r>
              <a:rPr sz="1500">
                <a:solidFill>
                  <a:srgbClr val="637783"/>
                </a:solidFill>
                <a:latin typeface="Arial"/>
                <a:ea typeface="Arial"/>
                <a:cs typeface="Arial"/>
              </a:rPr>
              <a:t>Use this as a reading aid, not legal advice. Translation can miss legal nuance. Check important obligations in the original document or with a qualified professional.</a:t>
            </a:r>
          </a:p>
        </p:txBody>
      </p:sp>
    </p:spTree>
    <p:extLst>
      <p:ext uri="{BB962C8B-B14F-4D97-AF65-F5344CB8AC3E}">
        <p14:creationId xmlns:p14="http://schemas.microsoft.com/office/powerpoint/2010/main" val="446896336"/>
      </p:ext>
    </p:extLst>
  </p:cSld>
</p:sld>
</file>

<file path=ppt/slides/slide6.xml><?xml version="1.0" encoding="utf-8"?>
<p:sld xmlns:p="http://schemas.openxmlformats.org/presentationml/2006/main">
  <p:cSld>
    <p:bg>
      <p:bgPr>
        <a:solidFill xmlns:a="http://schemas.openxmlformats.org/drawingml/2006/main">
          <a:srgbClr val="F6F0E5"/>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CC0BB16E-2E2C-4FA8-9156-7C3EBC375DF0}"/>
              </a:ext>
            </a:extLst>
          </p:cNvPr>
          <p:cNvSpPr>
            <a:spLocks xmlns:a="http://schemas.openxmlformats.org/drawingml/2006/main" noGrp="1"/>
          </p:cNvSpPr>
          <p:nvPr/>
        </p:nvSpPr>
        <p:spPr>
          <a:xfrm xmlns:a="http://schemas.openxmlformats.org/drawingml/2006/main">
            <a:off x="685800" y="333375"/>
            <a:ext cx="1066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buNone/>
              <a:defRPr sz="1200" b="1">
                <a:solidFill>
                  <a:srgbClr val="C55F43"/>
                </a:solidFill>
                <a:latin typeface="Arial"/>
                <a:ea typeface="Arial"/>
                <a:cs typeface="Arial"/>
              </a:defRPr>
            </a:pPr>
            <a:r>
              <a:rPr sz="1200" b="1">
                <a:solidFill>
                  <a:srgbClr val="C55F43"/>
                </a:solidFill>
                <a:latin typeface="Arial"/>
                <a:ea typeface="Arial"/>
                <a:cs typeface="Arial"/>
              </a:rPr>
              <a:t>SANGYAN HACKATHON     /     06     NIVESH</a:t>
            </a:r>
          </a:p>
        </p:txBody>
      </p:sp>
      <p:sp>
        <p:nvSpPr>
          <p:cNvPr id="2" name="">
            <a:extLst xmlns:a="http://schemas.openxmlformats.org/drawingml/2006/main">
              <a:ext uri="{FF2B5EF4-FFF2-40B4-BE49-F238E27FC236}">
                <a16:creationId xmlns:a16="http://schemas.microsoft.com/office/drawing/2014/main" id="{38500C02-29BD-4AD8-BB4B-9FEFCE7F3DB6}"/>
              </a:ext>
            </a:extLst>
          </p:cNvPr>
          <p:cNvSpPr>
            <a:spLocks xmlns:a="http://schemas.openxmlformats.org/drawingml/2006/main" noGrp="1"/>
          </p:cNvSpPr>
          <p:nvPr/>
        </p:nvSpPr>
        <p:spPr>
          <a:xfrm xmlns:a="http://schemas.openxmlformats.org/drawingml/2006/main">
            <a:off x="685800" y="714375"/>
            <a:ext cx="108108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nSpc>
                <a:spcPct val="96000"/>
              </a:lnSpc>
              <a:buNone/>
              <a:defRPr sz="3450" b="1">
                <a:solidFill>
                  <a:srgbClr val="18364A"/>
                </a:solidFill>
                <a:latin typeface="Arial"/>
                <a:ea typeface="Arial"/>
                <a:cs typeface="Arial"/>
              </a:defRPr>
            </a:pPr>
            <a:r>
              <a:rPr sz="3450" b="1">
                <a:solidFill>
                  <a:srgbClr val="18364A"/>
                </a:solidFill>
                <a:latin typeface="Arial"/>
                <a:ea typeface="Arial"/>
                <a:cs typeface="Arial"/>
              </a:rPr>
              <a:t>Multilingual AI Chatbot</a:t>
            </a:r>
          </a:p>
        </p:txBody>
      </p:sp>
      <p:sp>
        <p:nvSpPr>
          <p:cNvPr id="3" name="">
            <a:extLst xmlns:a="http://schemas.openxmlformats.org/drawingml/2006/main">
              <a:ext uri="{FF2B5EF4-FFF2-40B4-BE49-F238E27FC236}">
                <a16:creationId xmlns:a16="http://schemas.microsoft.com/office/drawing/2014/main" id="{133DCBCD-C078-4E5B-A7A5-BB7B0A23E32E}"/>
              </a:ext>
            </a:extLst>
          </p:cNvPr>
          <p:cNvSpPr>
            <a:spLocks xmlns:a="http://schemas.openxmlformats.org/drawingml/2006/main" noGrp="1"/>
          </p:cNvSpPr>
          <p:nvPr/>
        </p:nvSpPr>
        <p:spPr>
          <a:xfrm xmlns:a="http://schemas.openxmlformats.org/drawingml/2006/main">
            <a:off x="723900" y="1457325"/>
            <a:ext cx="10572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3027"/>
          </a:bodyPr>
          <a:lstStyle xmlns:a="http://schemas.openxmlformats.org/drawingml/2006/main"/>
          <a:p xmlns:a="http://schemas.openxmlformats.org/drawingml/2006/main">
            <a:pPr>
              <a:lnSpc>
                <a:spcPct val="108000"/>
              </a:lnSpc>
              <a:buNone/>
              <a:defRPr sz="1800">
                <a:solidFill>
                  <a:srgbClr val="637783"/>
                </a:solidFill>
                <a:latin typeface="Arial"/>
                <a:ea typeface="Arial"/>
                <a:cs typeface="Arial"/>
              </a:defRPr>
            </a:pPr>
            <a:r>
              <a:rPr sz="1800">
                <a:solidFill>
                  <a:srgbClr val="637783"/>
                </a:solidFill>
                <a:latin typeface="Arial"/>
                <a:ea typeface="Arial"/>
                <a:cs typeface="Arial"/>
              </a:rPr>
              <a:t>A financial learning assistant that answers in the website language and streams the explanation as it is written.</a:t>
            </a:r>
          </a:p>
        </p:txBody>
      </p:sp>
      <p:sp>
        <p:nvSpPr>
          <p:cNvPr id="4" name="">
            <a:extLst xmlns:a="http://schemas.openxmlformats.org/drawingml/2006/main">
              <a:ext uri="{FF2B5EF4-FFF2-40B4-BE49-F238E27FC236}">
                <a16:creationId xmlns:a16="http://schemas.microsoft.com/office/drawing/2014/main" id="{6779F7C2-C473-4A1C-9954-EA3462D53CA0}"/>
              </a:ext>
            </a:extLst>
          </p:cNvPr>
          <p:cNvSpPr>
            <a:spLocks xmlns:a="http://schemas.openxmlformats.org/drawingml/2006/main" noGrp="1"/>
          </p:cNvSpPr>
          <p:nvPr/>
        </p:nvSpPr>
        <p:spPr>
          <a:xfrm xmlns:a="http://schemas.openxmlformats.org/drawingml/2006/main">
            <a:off x="742950" y="2343150"/>
            <a:ext cx="5810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0208"/>
          </a:bodyPr>
          <a:lstStyle xmlns:a="http://schemas.openxmlformats.org/drawingml/2006/main"/>
          <a:p xmlns:a="http://schemas.openxmlformats.org/drawingml/2006/main">
            <a:pPr>
              <a:buNone/>
              <a:defRPr sz="1200" b="1">
                <a:solidFill>
                  <a:srgbClr val="397C75"/>
                </a:solidFill>
                <a:latin typeface="Arial"/>
                <a:ea typeface="Arial"/>
                <a:cs typeface="Arial"/>
              </a:defRPr>
            </a:pPr>
            <a:r>
              <a:rPr sz="1200" b="1">
                <a:solidFill>
                  <a:srgbClr val="397C75"/>
                </a:solidFill>
                <a:latin typeface="Arial"/>
                <a:ea typeface="Arial"/>
                <a:cs typeface="Arial"/>
              </a:rPr>
              <a:t>HOW A USER MOVES THROUGH IT</a:t>
            </a:r>
          </a:p>
        </p:txBody>
      </p:sp>
      <p:sp>
        <p:nvSpPr>
          <p:cNvPr id="5" name="">
            <a:extLst xmlns:a="http://schemas.openxmlformats.org/drawingml/2006/main">
              <a:ext uri="{FF2B5EF4-FFF2-40B4-BE49-F238E27FC236}">
                <a16:creationId xmlns:a16="http://schemas.microsoft.com/office/drawing/2014/main" id="{5B5E2F0F-D3FC-4DAE-9D9F-1E0E2950C82E}"/>
              </a:ext>
            </a:extLst>
          </p:cNvPr>
          <p:cNvSpPr>
            <a:spLocks xmlns:a="http://schemas.openxmlformats.org/drawingml/2006/main" noGrp="1"/>
          </p:cNvSpPr>
          <p:nvPr/>
        </p:nvSpPr>
        <p:spPr>
          <a:xfrm xmlns:a="http://schemas.openxmlformats.org/drawingml/2006/main">
            <a:off x="742950" y="2771775"/>
            <a:ext cx="5143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4615"/>
          </a:bodyPr>
          <a:lstStyle xmlns:a="http://schemas.openxmlformats.org/drawingml/2006/main"/>
          <a:p xmlns:a="http://schemas.openxmlformats.org/drawingml/2006/main">
            <a:pPr>
              <a:buNone/>
              <a:defRPr sz="1950" b="1">
                <a:solidFill>
                  <a:srgbClr val="C55F43"/>
                </a:solidFill>
                <a:latin typeface="Arial"/>
                <a:ea typeface="Arial"/>
                <a:cs typeface="Arial"/>
              </a:defRPr>
            </a:pPr>
            <a:r>
              <a:rPr sz="1950" b="1">
                <a:solidFill>
                  <a:srgbClr val="C55F43"/>
                </a:solidFill>
                <a:latin typeface="Arial"/>
                <a:ea typeface="Arial"/>
                <a:cs typeface="Arial"/>
              </a:rPr>
              <a:t>01</a:t>
            </a:r>
          </a:p>
        </p:txBody>
      </p:sp>
      <p:sp>
        <p:nvSpPr>
          <p:cNvPr id="6" name="">
            <a:extLst xmlns:a="http://schemas.openxmlformats.org/drawingml/2006/main">
              <a:ext uri="{FF2B5EF4-FFF2-40B4-BE49-F238E27FC236}">
                <a16:creationId xmlns:a16="http://schemas.microsoft.com/office/drawing/2014/main" id="{1AB38BE3-4F72-4EB3-9719-C82CA1D811BE}"/>
              </a:ext>
            </a:extLst>
          </p:cNvPr>
          <p:cNvSpPr>
            <a:spLocks xmlns:a="http://schemas.openxmlformats.org/drawingml/2006/main" noGrp="1"/>
          </p:cNvSpPr>
          <p:nvPr/>
        </p:nvSpPr>
        <p:spPr>
          <a:xfrm xmlns:a="http://schemas.openxmlformats.org/drawingml/2006/main">
            <a:off x="1362075" y="2771775"/>
            <a:ext cx="5191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3913"/>
          </a:bodyPr>
          <a:lstStyle xmlns:a="http://schemas.openxmlformats.org/drawingml/2006/main"/>
          <a:p xmlns:a="http://schemas.openxmlformats.org/drawingml/2006/main">
            <a:pPr>
              <a:buNone/>
              <a:defRPr sz="1725" b="1">
                <a:solidFill>
                  <a:srgbClr val="18364A"/>
                </a:solidFill>
                <a:latin typeface="Arial"/>
                <a:ea typeface="Arial"/>
                <a:cs typeface="Arial"/>
              </a:defRPr>
            </a:pPr>
            <a:r>
              <a:rPr sz="1725" b="1">
                <a:solidFill>
                  <a:srgbClr val="18364A"/>
                </a:solidFill>
                <a:latin typeface="Arial"/>
                <a:ea typeface="Arial"/>
                <a:cs typeface="Arial"/>
              </a:rPr>
              <a:t>Choose a language and ask</a:t>
            </a:r>
          </a:p>
        </p:txBody>
      </p:sp>
      <p:sp>
        <p:nvSpPr>
          <p:cNvPr id="7" name="">
            <a:extLst xmlns:a="http://schemas.openxmlformats.org/drawingml/2006/main">
              <a:ext uri="{FF2B5EF4-FFF2-40B4-BE49-F238E27FC236}">
                <a16:creationId xmlns:a16="http://schemas.microsoft.com/office/drawing/2014/main" id="{AF3FC5BF-BD1B-4DBB-83A5-0DC800B1C5C1}"/>
              </a:ext>
            </a:extLst>
          </p:cNvPr>
          <p:cNvSpPr>
            <a:spLocks xmlns:a="http://schemas.openxmlformats.org/drawingml/2006/main" noGrp="1"/>
          </p:cNvSpPr>
          <p:nvPr/>
        </p:nvSpPr>
        <p:spPr>
          <a:xfrm xmlns:a="http://schemas.openxmlformats.org/drawingml/2006/main">
            <a:off x="1362075" y="3105150"/>
            <a:ext cx="5191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nSpc>
                <a:spcPct val="104000"/>
              </a:lnSpc>
              <a:buNone/>
              <a:defRPr sz="1500">
                <a:solidFill>
                  <a:srgbClr val="29485A"/>
                </a:solidFill>
                <a:latin typeface="Arial"/>
                <a:ea typeface="Arial"/>
                <a:cs typeface="Arial"/>
              </a:defRPr>
            </a:pPr>
            <a:r>
              <a:rPr sz="1500">
                <a:solidFill>
                  <a:srgbClr val="29485A"/>
                </a:solidFill>
                <a:latin typeface="Arial"/>
                <a:ea typeface="Arial"/>
                <a:cs typeface="Arial"/>
              </a:rPr>
              <a:t>The chatbot supports text conversations in 22 Indian languages plus English.</a:t>
            </a:r>
          </a:p>
        </p:txBody>
      </p:sp>
      <p:sp>
        <p:nvSpPr>
          <p:cNvPr id="8" name="">
            <a:extLst xmlns:a="http://schemas.openxmlformats.org/drawingml/2006/main">
              <a:ext uri="{FF2B5EF4-FFF2-40B4-BE49-F238E27FC236}">
                <a16:creationId xmlns:a16="http://schemas.microsoft.com/office/drawing/2014/main" id="{210A432C-95ED-4981-B7BF-59557CF3A6B7}"/>
              </a:ext>
            </a:extLst>
          </p:cNvPr>
          <p:cNvSpPr>
            <a:spLocks xmlns:a="http://schemas.openxmlformats.org/drawingml/2006/main" noGrp="1"/>
          </p:cNvSpPr>
          <p:nvPr/>
        </p:nvSpPr>
        <p:spPr>
          <a:xfrm xmlns:a="http://schemas.openxmlformats.org/drawingml/2006/main">
            <a:off x="742950" y="3733800"/>
            <a:ext cx="5143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4615"/>
          </a:bodyPr>
          <a:lstStyle xmlns:a="http://schemas.openxmlformats.org/drawingml/2006/main"/>
          <a:p xmlns:a="http://schemas.openxmlformats.org/drawingml/2006/main">
            <a:pPr>
              <a:buNone/>
              <a:defRPr sz="1950" b="1">
                <a:solidFill>
                  <a:srgbClr val="C55F43"/>
                </a:solidFill>
                <a:latin typeface="Arial"/>
                <a:ea typeface="Arial"/>
                <a:cs typeface="Arial"/>
              </a:defRPr>
            </a:pPr>
            <a:r>
              <a:rPr sz="1950" b="1">
                <a:solidFill>
                  <a:srgbClr val="C55F43"/>
                </a:solidFill>
                <a:latin typeface="Arial"/>
                <a:ea typeface="Arial"/>
                <a:cs typeface="Arial"/>
              </a:rPr>
              <a:t>02</a:t>
            </a:r>
          </a:p>
        </p:txBody>
      </p:sp>
      <p:sp>
        <p:nvSpPr>
          <p:cNvPr id="9" name="">
            <a:extLst xmlns:a="http://schemas.openxmlformats.org/drawingml/2006/main">
              <a:ext uri="{FF2B5EF4-FFF2-40B4-BE49-F238E27FC236}">
                <a16:creationId xmlns:a16="http://schemas.microsoft.com/office/drawing/2014/main" id="{79554F0D-68C8-44B6-AEB0-4A830B19479D}"/>
              </a:ext>
            </a:extLst>
          </p:cNvPr>
          <p:cNvSpPr>
            <a:spLocks xmlns:a="http://schemas.openxmlformats.org/drawingml/2006/main" noGrp="1"/>
          </p:cNvSpPr>
          <p:nvPr/>
        </p:nvSpPr>
        <p:spPr>
          <a:xfrm xmlns:a="http://schemas.openxmlformats.org/drawingml/2006/main">
            <a:off x="1362075" y="3733800"/>
            <a:ext cx="5191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3913"/>
          </a:bodyPr>
          <a:lstStyle xmlns:a="http://schemas.openxmlformats.org/drawingml/2006/main"/>
          <a:p xmlns:a="http://schemas.openxmlformats.org/drawingml/2006/main">
            <a:pPr>
              <a:buNone/>
              <a:defRPr sz="1725" b="1">
                <a:solidFill>
                  <a:srgbClr val="18364A"/>
                </a:solidFill>
                <a:latin typeface="Arial"/>
                <a:ea typeface="Arial"/>
                <a:cs typeface="Arial"/>
              </a:defRPr>
            </a:pPr>
            <a:r>
              <a:rPr sz="1725" b="1">
                <a:solidFill>
                  <a:srgbClr val="18364A"/>
                </a:solidFill>
                <a:latin typeface="Arial"/>
                <a:ea typeface="Arial"/>
                <a:cs typeface="Arial"/>
              </a:rPr>
              <a:t>Follow the explanation</a:t>
            </a:r>
          </a:p>
        </p:txBody>
      </p:sp>
      <p:sp>
        <p:nvSpPr>
          <p:cNvPr id="10" name="">
            <a:extLst xmlns:a="http://schemas.openxmlformats.org/drawingml/2006/main">
              <a:ext uri="{FF2B5EF4-FFF2-40B4-BE49-F238E27FC236}">
                <a16:creationId xmlns:a16="http://schemas.microsoft.com/office/drawing/2014/main" id="{617B312D-1AE5-4893-A149-9CC8E5FBE13A}"/>
              </a:ext>
            </a:extLst>
          </p:cNvPr>
          <p:cNvSpPr>
            <a:spLocks xmlns:a="http://schemas.openxmlformats.org/drawingml/2006/main" noGrp="1"/>
          </p:cNvSpPr>
          <p:nvPr/>
        </p:nvSpPr>
        <p:spPr>
          <a:xfrm xmlns:a="http://schemas.openxmlformats.org/drawingml/2006/main">
            <a:off x="1362075" y="4067175"/>
            <a:ext cx="5191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nSpc>
                <a:spcPct val="104000"/>
              </a:lnSpc>
              <a:buNone/>
              <a:defRPr sz="1500">
                <a:solidFill>
                  <a:srgbClr val="29485A"/>
                </a:solidFill>
                <a:latin typeface="Arial"/>
                <a:ea typeface="Arial"/>
                <a:cs typeface="Arial"/>
              </a:defRPr>
            </a:pPr>
            <a:r>
              <a:rPr sz="1500">
                <a:solidFill>
                  <a:srgbClr val="29485A"/>
                </a:solidFill>
                <a:latin typeface="Arial"/>
                <a:ea typeface="Arial"/>
                <a:cs typeface="Arial"/>
              </a:rPr>
              <a:t>The response appears progressively. Users can stop generation or close the side panel at any time.</a:t>
            </a:r>
          </a:p>
        </p:txBody>
      </p:sp>
      <p:sp>
        <p:nvSpPr>
          <p:cNvPr id="11" name="">
            <a:extLst xmlns:a="http://schemas.openxmlformats.org/drawingml/2006/main">
              <a:ext uri="{FF2B5EF4-FFF2-40B4-BE49-F238E27FC236}">
                <a16:creationId xmlns:a16="http://schemas.microsoft.com/office/drawing/2014/main" id="{0D02C70E-CB60-4A60-A576-DF9C11838CFD}"/>
              </a:ext>
            </a:extLst>
          </p:cNvPr>
          <p:cNvSpPr>
            <a:spLocks xmlns:a="http://schemas.openxmlformats.org/drawingml/2006/main" noGrp="1"/>
          </p:cNvSpPr>
          <p:nvPr/>
        </p:nvSpPr>
        <p:spPr>
          <a:xfrm xmlns:a="http://schemas.openxmlformats.org/drawingml/2006/main">
            <a:off x="742950" y="4695825"/>
            <a:ext cx="5143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4615"/>
          </a:bodyPr>
          <a:lstStyle xmlns:a="http://schemas.openxmlformats.org/drawingml/2006/main"/>
          <a:p xmlns:a="http://schemas.openxmlformats.org/drawingml/2006/main">
            <a:pPr>
              <a:buNone/>
              <a:defRPr sz="1950" b="1">
                <a:solidFill>
                  <a:srgbClr val="C55F43"/>
                </a:solidFill>
                <a:latin typeface="Arial"/>
                <a:ea typeface="Arial"/>
                <a:cs typeface="Arial"/>
              </a:defRPr>
            </a:pPr>
            <a:r>
              <a:rPr sz="1950" b="1">
                <a:solidFill>
                  <a:srgbClr val="C55F43"/>
                </a:solidFill>
                <a:latin typeface="Arial"/>
                <a:ea typeface="Arial"/>
                <a:cs typeface="Arial"/>
              </a:rPr>
              <a:t>03</a:t>
            </a:r>
          </a:p>
        </p:txBody>
      </p:sp>
      <p:sp>
        <p:nvSpPr>
          <p:cNvPr id="12" name="">
            <a:extLst xmlns:a="http://schemas.openxmlformats.org/drawingml/2006/main">
              <a:ext uri="{FF2B5EF4-FFF2-40B4-BE49-F238E27FC236}">
                <a16:creationId xmlns:a16="http://schemas.microsoft.com/office/drawing/2014/main" id="{E07798F0-BD4A-4848-8C74-0A648DFD78CD}"/>
              </a:ext>
            </a:extLst>
          </p:cNvPr>
          <p:cNvSpPr>
            <a:spLocks xmlns:a="http://schemas.openxmlformats.org/drawingml/2006/main" noGrp="1"/>
          </p:cNvSpPr>
          <p:nvPr/>
        </p:nvSpPr>
        <p:spPr>
          <a:xfrm xmlns:a="http://schemas.openxmlformats.org/drawingml/2006/main">
            <a:off x="1362075" y="4695825"/>
            <a:ext cx="5191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3913"/>
          </a:bodyPr>
          <a:lstStyle xmlns:a="http://schemas.openxmlformats.org/drawingml/2006/main"/>
          <a:p xmlns:a="http://schemas.openxmlformats.org/drawingml/2006/main">
            <a:pPr>
              <a:buNone/>
              <a:defRPr sz="1725" b="1">
                <a:solidFill>
                  <a:srgbClr val="18364A"/>
                </a:solidFill>
                <a:latin typeface="Arial"/>
                <a:ea typeface="Arial"/>
                <a:cs typeface="Arial"/>
              </a:defRPr>
            </a:pPr>
            <a:r>
              <a:rPr sz="1725" b="1">
                <a:solidFill>
                  <a:srgbClr val="18364A"/>
                </a:solidFill>
                <a:latin typeface="Arial"/>
                <a:ea typeface="Arial"/>
                <a:cs typeface="Arial"/>
              </a:rPr>
              <a:t>Use speech when available</a:t>
            </a:r>
          </a:p>
        </p:txBody>
      </p:sp>
      <p:sp>
        <p:nvSpPr>
          <p:cNvPr id="13" name="">
            <a:extLst xmlns:a="http://schemas.openxmlformats.org/drawingml/2006/main">
              <a:ext uri="{FF2B5EF4-FFF2-40B4-BE49-F238E27FC236}">
                <a16:creationId xmlns:a16="http://schemas.microsoft.com/office/drawing/2014/main" id="{A05E3688-DE67-4191-A365-B6A6A4FD4067}"/>
              </a:ext>
            </a:extLst>
          </p:cNvPr>
          <p:cNvSpPr>
            <a:spLocks xmlns:a="http://schemas.openxmlformats.org/drawingml/2006/main" noGrp="1"/>
          </p:cNvSpPr>
          <p:nvPr/>
        </p:nvSpPr>
        <p:spPr>
          <a:xfrm xmlns:a="http://schemas.openxmlformats.org/drawingml/2006/main">
            <a:off x="1362075" y="5029200"/>
            <a:ext cx="5191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nSpc>
                <a:spcPct val="104000"/>
              </a:lnSpc>
              <a:buNone/>
              <a:defRPr sz="1500">
                <a:solidFill>
                  <a:srgbClr val="29485A"/>
                </a:solidFill>
                <a:latin typeface="Arial"/>
                <a:ea typeface="Arial"/>
                <a:cs typeface="Arial"/>
              </a:defRPr>
            </a:pPr>
            <a:r>
              <a:rPr sz="1500">
                <a:solidFill>
                  <a:srgbClr val="29485A"/>
                </a:solidFill>
                <a:latin typeface="Arial"/>
                <a:ea typeface="Arial"/>
                <a:cs typeface="Arial"/>
              </a:rPr>
              <a:t>Spoken replies can be switched on or off and follow the selected language when speech is supported.</a:t>
            </a:r>
          </a:p>
        </p:txBody>
      </p:sp>
      <p:sp>
        <p:nvSpPr>
          <p:cNvPr id="14" name="">
            <a:extLst xmlns:a="http://schemas.openxmlformats.org/drawingml/2006/main">
              <a:ext uri="{FF2B5EF4-FFF2-40B4-BE49-F238E27FC236}">
                <a16:creationId xmlns:a16="http://schemas.microsoft.com/office/drawing/2014/main" id="{5281BF5B-564D-4150-8A50-1BB57072C2E5}"/>
              </a:ext>
            </a:extLst>
          </p:cNvPr>
          <p:cNvSpPr>
            <a:spLocks xmlns:a="http://schemas.openxmlformats.org/drawingml/2006/main" noGrp="1"/>
          </p:cNvSpPr>
          <p:nvPr/>
        </p:nvSpPr>
        <p:spPr>
          <a:xfrm xmlns:a="http://schemas.openxmlformats.org/drawingml/2006/main">
            <a:off x="7162800" y="2343150"/>
            <a:ext cx="428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0208"/>
          </a:bodyPr>
          <a:lstStyle xmlns:a="http://schemas.openxmlformats.org/drawingml/2006/main"/>
          <a:p xmlns:a="http://schemas.openxmlformats.org/drawingml/2006/main">
            <a:pPr>
              <a:buNone/>
              <a:defRPr sz="1200" b="1">
                <a:solidFill>
                  <a:srgbClr val="397C75"/>
                </a:solidFill>
                <a:latin typeface="Arial"/>
                <a:ea typeface="Arial"/>
                <a:cs typeface="Arial"/>
              </a:defRPr>
            </a:pPr>
            <a:r>
              <a:rPr sz="1200" b="1">
                <a:solidFill>
                  <a:srgbClr val="397C75"/>
                </a:solidFill>
                <a:latin typeface="Arial"/>
                <a:ea typeface="Arial"/>
                <a:cs typeface="Arial"/>
              </a:rPr>
              <a:t>HOW IT ANSWERS</a:t>
            </a:r>
          </a:p>
        </p:txBody>
      </p:sp>
      <p:sp>
        <p:nvSpPr>
          <p:cNvPr id="15" name="">
            <a:extLst xmlns:a="http://schemas.openxmlformats.org/drawingml/2006/main">
              <a:ext uri="{FF2B5EF4-FFF2-40B4-BE49-F238E27FC236}">
                <a16:creationId xmlns:a16="http://schemas.microsoft.com/office/drawing/2014/main" id="{87F05F41-0005-4E62-8758-6CAEC9E9DE83}"/>
              </a:ext>
            </a:extLst>
          </p:cNvPr>
          <p:cNvSpPr>
            <a:spLocks xmlns:a="http://schemas.openxmlformats.org/drawingml/2006/main" noGrp="1"/>
          </p:cNvSpPr>
          <p:nvPr/>
        </p:nvSpPr>
        <p:spPr>
          <a:xfrm xmlns:a="http://schemas.openxmlformats.org/drawingml/2006/main">
            <a:off x="7162800" y="2771775"/>
            <a:ext cx="4286250" cy="205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nSpc>
                <a:spcPct val="110000"/>
              </a:lnSpc>
              <a:buNone/>
              <a:defRPr sz="1575">
                <a:solidFill>
                  <a:srgbClr val="18364A"/>
                </a:solidFill>
                <a:latin typeface="Arial"/>
                <a:ea typeface="Arial"/>
                <a:cs typeface="Arial"/>
              </a:defRPr>
            </a:pPr>
            <a:r>
              <a:rPr sz="1575">
                <a:solidFill>
                  <a:srgbClr val="18364A"/>
                </a:solidFill>
                <a:latin typeface="Arial"/>
                <a:ea typeface="Arial"/>
                <a:cs typeface="Arial"/>
              </a:rPr>
              <a:t>Ollama runs Qwen3:8B and LangChain connects the conversation to the prompt. For relevant questions, BGE-M3 and ChromaDB retrieve passages from the project’s learning documents. The model uses that context to explain concepts in plain language.</a:t>
            </a:r>
          </a:p>
        </p:txBody>
      </p:sp>
      <p:sp>
        <p:nvSpPr>
          <p:cNvPr id="16" name="">
            <a:extLst xmlns:a="http://schemas.openxmlformats.org/drawingml/2006/main">
              <a:ext uri="{FF2B5EF4-FFF2-40B4-BE49-F238E27FC236}">
                <a16:creationId xmlns:a16="http://schemas.microsoft.com/office/drawing/2014/main" id="{4E43EF52-35D7-4B38-8768-DF87DC216534}"/>
              </a:ext>
            </a:extLst>
          </p:cNvPr>
          <p:cNvSpPr>
            <a:spLocks xmlns:a="http://schemas.openxmlformats.org/drawingml/2006/main" noGrp="1"/>
          </p:cNvSpPr>
          <p:nvPr/>
        </p:nvSpPr>
        <p:spPr>
          <a:xfrm xmlns:a="http://schemas.openxmlformats.org/drawingml/2006/main">
            <a:off x="7162800" y="4953000"/>
            <a:ext cx="4286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9792"/>
          </a:bodyPr>
          <a:lstStyle xmlns:a="http://schemas.openxmlformats.org/drawingml/2006/main"/>
          <a:p xmlns:a="http://schemas.openxmlformats.org/drawingml/2006/main">
            <a:pPr>
              <a:buNone/>
              <a:defRPr sz="1200" b="1">
                <a:solidFill>
                  <a:srgbClr val="B38736"/>
                </a:solidFill>
                <a:latin typeface="Arial"/>
                <a:ea typeface="Arial"/>
                <a:cs typeface="Arial"/>
              </a:defRPr>
            </a:pPr>
            <a:r>
              <a:rPr sz="1200" b="1">
                <a:solidFill>
                  <a:srgbClr val="B38736"/>
                </a:solidFill>
                <a:latin typeface="Arial"/>
                <a:ea typeface="Arial"/>
                <a:cs typeface="Arial"/>
              </a:rPr>
              <a:t>CLEAR SCOPE AND LANGUAGE SUPPORT</a:t>
            </a:r>
          </a:p>
        </p:txBody>
      </p:sp>
      <p:sp>
        <p:nvSpPr>
          <p:cNvPr id="17" name="">
            <a:extLst xmlns:a="http://schemas.openxmlformats.org/drawingml/2006/main">
              <a:ext uri="{FF2B5EF4-FFF2-40B4-BE49-F238E27FC236}">
                <a16:creationId xmlns:a16="http://schemas.microsoft.com/office/drawing/2014/main" id="{6F0B39B9-F8F8-48FE-AFE5-51E18CF4806C}"/>
              </a:ext>
            </a:extLst>
          </p:cNvPr>
          <p:cNvSpPr>
            <a:spLocks xmlns:a="http://schemas.openxmlformats.org/drawingml/2006/main" noGrp="1"/>
          </p:cNvSpPr>
          <p:nvPr/>
        </p:nvSpPr>
        <p:spPr>
          <a:xfrm xmlns:a="http://schemas.openxmlformats.org/drawingml/2006/main">
            <a:off x="7162800" y="5257800"/>
            <a:ext cx="42862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6471"/>
          </a:bodyPr>
          <a:lstStyle xmlns:a="http://schemas.openxmlformats.org/drawingml/2006/main"/>
          <a:p xmlns:a="http://schemas.openxmlformats.org/drawingml/2006/main">
            <a:pPr>
              <a:lnSpc>
                <a:spcPct val="105000"/>
              </a:lnSpc>
              <a:buNone/>
              <a:defRPr sz="1425">
                <a:solidFill>
                  <a:srgbClr val="637783"/>
                </a:solidFill>
                <a:latin typeface="Arial"/>
                <a:ea typeface="Arial"/>
                <a:cs typeface="Arial"/>
              </a:defRPr>
            </a:pPr>
            <a:r>
              <a:rPr sz="1425">
                <a:solidFill>
                  <a:srgbClr val="637783"/>
                </a:solidFill>
                <a:latin typeface="Arial"/>
                <a:ea typeface="Arial"/>
                <a:cs typeface="Arial"/>
              </a:rPr>
              <a:t>The assistant explains general financial concepts and fraud awareness. It does not provide personal investment advice or stock picks. Spoken language support is narrower than text support.</a:t>
            </a:r>
          </a:p>
        </p:txBody>
      </p:sp>
      <p:sp>
        <p:nvSpPr>
          <p:cNvPr id="18" name="">
            <a:extLst xmlns:a="http://schemas.openxmlformats.org/drawingml/2006/main">
              <a:ext uri="{FF2B5EF4-FFF2-40B4-BE49-F238E27FC236}">
                <a16:creationId xmlns:a16="http://schemas.microsoft.com/office/drawing/2014/main" id="{709EEA41-8BA3-4D30-B0CF-318FDC1589D2}"/>
              </a:ext>
            </a:extLst>
          </p:cNvPr>
          <p:cNvSpPr>
            <a:spLocks xmlns:a="http://schemas.openxmlformats.org/drawingml/2006/main" noGrp="1"/>
          </p:cNvSpPr>
          <p:nvPr/>
        </p:nvSpPr>
        <p:spPr>
          <a:xfrm xmlns:a="http://schemas.openxmlformats.org/drawingml/2006/main">
            <a:off x="742950" y="6115050"/>
            <a:ext cx="107156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buNone/>
              <a:defRPr sz="1200">
                <a:solidFill>
                  <a:srgbClr val="637783"/>
                </a:solidFill>
                <a:latin typeface="Arial"/>
                <a:ea typeface="Arial"/>
                <a:cs typeface="Arial"/>
              </a:defRPr>
            </a:pPr>
            <a:r>
              <a:rPr sz="1200">
                <a:solidFill>
                  <a:srgbClr val="637783"/>
                </a:solidFill>
                <a:latin typeface="Arial"/>
                <a:ea typeface="Arial"/>
                <a:cs typeface="Arial"/>
              </a:rPr>
              <a:t>Text languages: Assamese, Bengali, Bodo, Dogri, Gujarati, Hindi, Kannada, Kashmiri, Konkani, Maithili, Malayalam,</a:t>
            </a:r>
          </a:p>
          <a:p xmlns:a="http://schemas.openxmlformats.org/drawingml/2006/main">
            <a:pPr>
              <a:buNone/>
              <a:defRPr sz="1200">
                <a:solidFill>
                  <a:srgbClr val="637783"/>
                </a:solidFill>
                <a:latin typeface="Arial"/>
                <a:ea typeface="Arial"/>
                <a:cs typeface="Arial"/>
              </a:defRPr>
            </a:pPr>
            <a:r>
              <a:rPr sz="1200">
                <a:solidFill>
                  <a:srgbClr val="637783"/>
                </a:solidFill>
                <a:latin typeface="Arial"/>
                <a:ea typeface="Arial"/>
                <a:cs typeface="Arial"/>
              </a:rPr>
              <a:t>Manipuri, Marathi, Nepali, Odia, Punjabi, Sanskrit, Santali, Sindhi, Tamil, Telugu, Urdu, and English.</a:t>
            </a:r>
          </a:p>
        </p:txBody>
      </p:sp>
    </p:spTree>
    <p:extLst>
      <p:ext uri="{BB962C8B-B14F-4D97-AF65-F5344CB8AC3E}">
        <p14:creationId xmlns:p14="http://schemas.microsoft.com/office/powerpoint/2010/main" val="130634564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2026-10-03T18:13:56.5180000Z</dcterms:created>
  <dcterms:modified xsi:type="dcterms:W3CDTF">2026-10-03T18:13:56.5180000Z</dcterms:modified>
</coreProperties>
</file>