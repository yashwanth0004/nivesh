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c927c432dd4e76" /><Relationship Type="http://schemas.openxmlformats.org/officeDocument/2006/relationships/extended-properties" Target="/docProps/app.xml" Id="R3a86dbb61c544d91" /><Relationship Type="http://schemas.openxmlformats.org/officeDocument/2006/relationships/officeDocument" Target="/ppt/presentation.xml" Id="R838a1bf4477743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028d531cd84fdb"/>
  </p:sldMasterIdLst>
  <p:notesMasterIdLst>
    <p:notesMasterId xmlns:r="http://schemas.openxmlformats.org/officeDocument/2006/relationships" r:id="R41673e0b21da40c8"/>
  </p:notesMasterIdLst>
  <p:sldIdLst>
    <p:sldId xmlns:r="http://schemas.openxmlformats.org/officeDocument/2006/relationships" id="256" r:id="Raab3c50e785543a6"/>
    <p:sldId xmlns:r="http://schemas.openxmlformats.org/officeDocument/2006/relationships" id="257" r:id="R68f4b5be16684c11"/>
    <p:sldId xmlns:r="http://schemas.openxmlformats.org/officeDocument/2006/relationships" id="258" r:id="R59e311266c1948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cc8225cf2f41bb" /><Relationship Type="http://schemas.openxmlformats.org/officeDocument/2006/relationships/slideMaster" Target="/ppt/slideMasters/slideMaster1.xml" Id="R4d028d531cd84fdb" /><Relationship Type="http://schemas.openxmlformats.org/officeDocument/2006/relationships/notesMaster" Target="/ppt/notesMasters/notesMaster1.xml" Id="R41673e0b21da40c8" /><Relationship Type="http://schemas.openxmlformats.org/officeDocument/2006/relationships/presProps" Target="/ppt/presProps.xml" Id="R703022efbb4241ff" /><Relationship Type="http://schemas.openxmlformats.org/officeDocument/2006/relationships/tableStyles" Target="/ppt/tableStyles.xml" Id="R17dad8935f9648f7" /><Relationship Type="http://schemas.openxmlformats.org/officeDocument/2006/relationships/slide" Target="/ppt/slides/slide1.xml" Id="Raab3c50e785543a6" /><Relationship Type="http://schemas.openxmlformats.org/officeDocument/2006/relationships/slide" Target="/ppt/slides/slide2.xml" Id="R68f4b5be16684c11" /><Relationship Type="http://schemas.openxmlformats.org/officeDocument/2006/relationships/slide" Target="/ppt/slides/slide3.xml" Id="R59e311266c1948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ce997c959841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51cf76dc0d4e4a" /><Relationship Type="http://schemas.openxmlformats.org/officeDocument/2006/relationships/notesMaster" Target="/ppt/notesMasters/notesMaster1.xml" Id="R1085875c3f4843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d3635196e647f5" /><Relationship Type="http://schemas.openxmlformats.org/officeDocument/2006/relationships/notesMaster" Target="/ppt/notesMasters/notesMaster1.xml" Id="Rd9bf044801fc41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e1632901a746f3" /><Relationship Type="http://schemas.openxmlformats.org/officeDocument/2006/relationships/notesMaster" Target="/ppt/notesMasters/notesMaster1.xml" Id="Rc1cd825e84074b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simulator.html, simulator.js, simulator.css in the project. Implementation: JavaScript scenario assumptions, random daily price paths and repeated runs; ApexCharts renders results. The simulator is educational and does not use live prices or predict real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fraud-detector.html, unified_api.py, fraud_vision.py, verifier.py, claim_risk_engine.py, indic_evidence.py, official_domains.json. Models: Ollama Qwen3-VL:8B for visual evidence; AI4Bharat speech models through Sherpa-ONNX for supported voice transcription. SEBI and domain comparisons rely on local project data, not live official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index.html, chat-widget.js, web_app.py, model_7.py, web_tts.py. Model: Ollama Qwen3:8B with streaming responses. Retrieval: LangChain, local BGE-M3 embeddings and ChromaDB over project learning documents. Website text language map includes 22 Indic languages and English. gTTS speech support is narrower than the full text language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9394b8fc6d4a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9bfb61ae334020" /><Relationship Type="http://schemas.openxmlformats.org/officeDocument/2006/relationships/slideLayout" Target="/ppt/slideLayouts/slideLayout1.xml" Id="R6f5a9e694b4c47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5a9e694b4c47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63b8acf904e20" /><Relationship Type="http://schemas.openxmlformats.org/officeDocument/2006/relationships/notesSlide" Target="/ppt/notesSlides/notesSlide1.xml" Id="R2f44cfc9125240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66c6a37be4c12" /><Relationship Type="http://schemas.openxmlformats.org/officeDocument/2006/relationships/notesSlide" Target="/ppt/notesSlides/notesSlide2.xml" Id="Rd6daf10e605a4b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cb8d104ef45f4" /><Relationship Type="http://schemas.openxmlformats.org/officeDocument/2006/relationships/notesSlide" Target="/ppt/notesSlides/notesSlide3.xml" Id="Rc755e8f573fc45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4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E08D75-2A5F-4EF0-A85C-ED74A138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6F3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6F36B"/>
                </a:solidFill>
                <a:latin typeface="Arial"/>
                <a:ea typeface="Arial"/>
                <a:cs typeface="Arial"/>
              </a:rPr>
              <a:t>NIVESH  /  SOLUTION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B95B0-B972-4237-983F-36AA337C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24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600" b="1">
                <a:solidFill>
                  <a:srgbClr val="F2F5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2F5EB"/>
                </a:solidFill>
                <a:latin typeface="Arial"/>
                <a:ea typeface="Arial"/>
                <a:cs typeface="Arial"/>
              </a:rPr>
              <a:t>Investment Consequence Simulator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A49C6-F591-40F6-B809-88E542DF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954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A9B8A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9B8AE"/>
                </a:solidFill>
                <a:latin typeface="Arial"/>
                <a:ea typeface="Arial"/>
                <a:cs typeface="Arial"/>
              </a:rPr>
              <a:t>Explore how virtual portfolios respond to different market conditions, without investing real money.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0ACA0-1146-4D9E-8169-C86AFCAE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0DFA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0DFAE"/>
                </a:solidFill>
                <a:latin typeface="Arial"/>
                <a:ea typeface="Arial"/>
                <a:cs typeface="Arial"/>
              </a:rPr>
              <a:t>USER JOURNEY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FC97A-CC12-4A70-B346-A47A79C9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6F3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6F3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205BC-5B8A-4116-A459-6214DD4B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F5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5EB"/>
                </a:solidFill>
                <a:latin typeface="Arial"/>
                <a:ea typeface="Arial"/>
                <a:cs typeface="Arial"/>
              </a:rPr>
              <a:t>Choose a market 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17913-4E84-4FB1-A97D-31F1780A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48025"/>
            <a:ext cx="528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0">
                <a:solidFill>
                  <a:srgbClr val="A9B8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AE"/>
                </a:solidFill>
                <a:latin typeface="Arial"/>
                <a:ea typeface="Arial"/>
                <a:cs typeface="Arial"/>
              </a:rPr>
              <a:t>Normal, crash, high volatility, fraud, or 2× leverage.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B3D00-0547-4AD7-908E-8EC06B99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6F3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6F3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7C24F-5759-4C53-9AD5-39842C9C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F5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5EB"/>
                </a:solidFill>
                <a:latin typeface="Arial"/>
                <a:ea typeface="Arial"/>
                <a:cs typeface="Arial"/>
              </a:rPr>
              <a:t>Build one or two portfolios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B82D7-2445-4EDC-8AC8-04CBE63A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528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0">
                <a:solidFill>
                  <a:srgbClr val="A9B8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AE"/>
                </a:solidFill>
                <a:latin typeface="Arial"/>
                <a:ea typeface="Arial"/>
                <a:cs typeface="Arial"/>
              </a:rPr>
              <a:t>Select virtual stocks or bonds, lump sum or monthly units, capital, duration, and run count.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2B2B1-87BF-4E3A-A7F9-C4FCA3EA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6F3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6F3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86080-30FE-409F-93C6-0E682295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958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F5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5EB"/>
                </a:solidFill>
                <a:latin typeface="Arial"/>
                <a:ea typeface="Arial"/>
                <a:cs typeface="Arial"/>
              </a:rPr>
              <a:t>Review possible outcomes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7AE9C-3F56-419D-9DFE-D7228B58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29225"/>
            <a:ext cx="528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0">
                <a:solidFill>
                  <a:srgbClr val="A9B8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AE"/>
                </a:solidFill>
                <a:latin typeface="Arial"/>
                <a:ea typeface="Arial"/>
                <a:cs typeface="Arial"/>
              </a:rPr>
              <a:t>Compare average, best and worst values, profitable runs, losses, and charts.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FFD6C-52FE-4A2A-A455-73092276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0DFA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0DFAE"/>
                </a:solidFill>
                <a:latin typeface="Arial"/>
                <a:ea typeface="Arial"/>
                <a:cs typeface="Arial"/>
              </a:rPr>
              <a:t>HOW THE SIMULATION WORKS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7FCA7-C8BA-4927-8FBF-E13852AD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05125"/>
            <a:ext cx="3905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F2F5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2F5EB"/>
                </a:solidFill>
                <a:latin typeface="Arial"/>
                <a:ea typeface="Arial"/>
                <a:cs typeface="Arial"/>
              </a:rPr>
              <a:t>JavaScript generates random daily price paths from illustrative return and volatility assumptions. It repeats each setup up to 100 times and summarizes the results. ApexCharts displays the portfolio paths.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72454-E467-4D34-93A5-C288AC4F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2C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C66D"/>
                </a:solidFill>
                <a:latin typeface="Arial"/>
                <a:ea typeface="Arial"/>
                <a:cs typeface="Arial"/>
              </a:rPr>
              <a:t>KEY 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804C9-F2E5-49E6-A0EC-DA2D44E1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24500"/>
            <a:ext cx="3905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0">
                <a:solidFill>
                  <a:srgbClr val="A9B8A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AE"/>
                </a:solidFill>
                <a:latin typeface="Arial"/>
                <a:ea typeface="Arial"/>
                <a:cs typeface="Arial"/>
              </a:rPr>
              <a:t>Useful for learning about uncertainty and downside risk. It uses no live prices and does not predict future returns.</a:t>
            </a:r>
          </a:p>
        </p:txBody>
      </p:sp>
    </p:spTree>
    <p:extLst>
      <p:ext uri="{BB962C8B-B14F-4D97-AF65-F5344CB8AC3E}">
        <p14:creationId xmlns:p14="http://schemas.microsoft.com/office/powerpoint/2010/main" val="1186602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4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9AF35A-4A91-4F82-8D45-07D0DCBC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6F3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6F36B"/>
                </a:solidFill>
                <a:latin typeface="Arial"/>
                <a:ea typeface="Arial"/>
                <a:cs typeface="Arial"/>
              </a:rPr>
              <a:t>NIVESH  /  SOLUTION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5BB52-FF89-42AF-B309-781310F9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24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600" b="1">
                <a:solidFill>
                  <a:srgbClr val="F2F5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2F5EB"/>
                </a:solidFill>
                <a:latin typeface="Arial"/>
                <a:ea typeface="Arial"/>
                <a:cs typeface="Arial"/>
              </a:rPr>
              <a:t>Fraud Detection and SEBI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04174-81C8-4112-B44A-2920EA8A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954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652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A9B8A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9B8AE"/>
                </a:solidFill>
                <a:latin typeface="Arial"/>
                <a:ea typeface="Arial"/>
                <a:cs typeface="Arial"/>
              </a:rPr>
              <a:t>Review investment messages and files for registration mismatches, suspicious links, and common fraud signals.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7799C-5BCA-4693-85A6-2F65CB1B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0DFA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0DFAE"/>
                </a:solidFill>
                <a:latin typeface="Arial"/>
                <a:ea typeface="Arial"/>
                <a:cs typeface="Arial"/>
              </a:rPr>
              <a:t>USER JOURNEY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103B7-E305-4456-ADA9-FC686114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6F3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6F3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84502-E8E6-4E7E-A291-D5AC1969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F5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5EB"/>
                </a:solidFill>
                <a:latin typeface="Arial"/>
                <a:ea typeface="Arial"/>
                <a:cs typeface="Arial"/>
              </a:rPr>
              <a:t>Submit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94968-E180-4317-AAFC-A5200EF2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48025"/>
            <a:ext cx="528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0">
                <a:solidFill>
                  <a:srgbClr val="A9B8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AE"/>
                </a:solidFill>
                <a:latin typeface="Arial"/>
                <a:ea typeface="Arial"/>
                <a:cs typeface="Arial"/>
              </a:rPr>
              <a:t>Type a message and optionally add a name, voice recording, image, or PDF.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021A0-31B3-41CF-96C7-B8912638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6F3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6F3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8F5C0-AD60-4AC8-9748-D09A47B1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F5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5EB"/>
                </a:solidFill>
                <a:latin typeface="Arial"/>
                <a:ea typeface="Arial"/>
                <a:cs typeface="Arial"/>
              </a:rPr>
              <a:t>Extract and compare details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E7A45-8A71-4E89-B41C-E1E825BC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528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0">
                <a:solidFill>
                  <a:srgbClr val="A9B8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AE"/>
                </a:solidFill>
                <a:latin typeface="Arial"/>
                <a:ea typeface="Arial"/>
                <a:cs typeface="Arial"/>
              </a:rPr>
              <a:t>Qwen3-VL reads files; AI4Bharat with Sherpa-ONNX transcribes supported voice languages.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4F069-BA9E-4FC5-9568-7F9FE0FE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6F3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6F3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6C6B9-C1B6-4AC3-9D71-181F1B9C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958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F5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5EB"/>
                </a:solidFill>
                <a:latin typeface="Arial"/>
                <a:ea typeface="Arial"/>
                <a:cs typeface="Arial"/>
              </a:rPr>
              <a:t>Review the 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A237F-5DD1-484C-BE53-9DAEBEC4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29225"/>
            <a:ext cx="528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0">
                <a:solidFill>
                  <a:srgbClr val="A9B8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AE"/>
                </a:solidFill>
                <a:latin typeface="Arial"/>
                <a:ea typeface="Arial"/>
                <a:cs typeface="Arial"/>
              </a:rPr>
              <a:t>See a summary, risk score, red flags, SEBI checks, and separate URL results.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45421-EE88-401C-A28D-A432A90D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0DFA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0DFAE"/>
                </a:solidFill>
                <a:latin typeface="Arial"/>
                <a:ea typeface="Arial"/>
                <a:cs typeface="Arial"/>
              </a:rPr>
              <a:t>TECHNOLOGY AND CHECKS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A5589-39CA-4DCC-A9AE-718EAD87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05125"/>
            <a:ext cx="3905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F2F5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2F5EB"/>
                </a:solidFill>
                <a:latin typeface="Arial"/>
                <a:ea typeface="Arial"/>
                <a:cs typeface="Arial"/>
              </a:rPr>
              <a:t>Qwen3-VL:8B reads visual evidence. Rule-based checks flag patterns such as pressure tactics and unusually high return claims. Local SEBI records and configured company domains support registration and URL comparisons.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E274A3-5260-415E-81ED-87FF6A4F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2C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C66D"/>
                </a:solidFill>
                <a:latin typeface="Arial"/>
                <a:ea typeface="Arial"/>
                <a:cs typeface="Arial"/>
              </a:rPr>
              <a:t>KEY 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93B3D-497F-4F6B-AC04-39AB08AB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24500"/>
            <a:ext cx="3905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0">
                <a:solidFill>
                  <a:srgbClr val="A9B8A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AE"/>
                </a:solidFill>
                <a:latin typeface="Arial"/>
                <a:ea typeface="Arial"/>
                <a:cs typeface="Arial"/>
              </a:rPr>
              <a:t>Screening only. Local records are not a live SEBI lookup, and an AI result is not an official fraud finding.</a:t>
            </a:r>
          </a:p>
        </p:txBody>
      </p:sp>
    </p:spTree>
    <p:extLst>
      <p:ext uri="{BB962C8B-B14F-4D97-AF65-F5344CB8AC3E}">
        <p14:creationId xmlns:p14="http://schemas.microsoft.com/office/powerpoint/2010/main" val="15260880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4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9D1FF5-E44C-46AF-B98B-D14782F3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6F3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6F36B"/>
                </a:solidFill>
                <a:latin typeface="Arial"/>
                <a:ea typeface="Arial"/>
                <a:cs typeface="Arial"/>
              </a:rPr>
              <a:t>NIVESH  /  SOLUTION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C2EAB-FD99-45C5-BE30-050CC99E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24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600" b="1">
                <a:solidFill>
                  <a:srgbClr val="F2F5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2F5EB"/>
                </a:solidFill>
                <a:latin typeface="Arial"/>
                <a:ea typeface="Arial"/>
                <a:cs typeface="Arial"/>
              </a:rPr>
              <a:t>Multilingual AI Chatbot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7CCBA-F307-4AF9-9124-546221B9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954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A9B8A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9B8AE"/>
                </a:solidFill>
                <a:latin typeface="Arial"/>
                <a:ea typeface="Arial"/>
                <a:cs typeface="Arial"/>
              </a:rPr>
              <a:t>A streaming financial education assistant that responds in the language selected on the website.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3C56C-6A42-461A-9856-D42851A8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0DFA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0DFAE"/>
                </a:solidFill>
                <a:latin typeface="Arial"/>
                <a:ea typeface="Arial"/>
                <a:cs typeface="Arial"/>
              </a:rPr>
              <a:t>USER JOURNEY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09440-69A0-4B18-B46D-0002AB77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6F3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6F3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46099-53ED-4F28-B784-C377950F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F5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5EB"/>
                </a:solidFill>
                <a:latin typeface="Arial"/>
                <a:ea typeface="Arial"/>
                <a:cs typeface="Arial"/>
              </a:rPr>
              <a:t>Choose a language and 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A9D4D-CF78-4E1D-B56F-D6434B69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48025"/>
            <a:ext cx="528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0">
                <a:solidFill>
                  <a:srgbClr val="A9B8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AE"/>
                </a:solidFill>
                <a:latin typeface="Arial"/>
                <a:ea typeface="Arial"/>
                <a:cs typeface="Arial"/>
              </a:rPr>
              <a:t>Text chat supports 22 Indian languages plus English.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9AE29-6212-4FF0-94E1-8D517DE0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6F3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6F3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843E1-BCA0-4F9E-92F3-9F0E8366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F5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5EB"/>
                </a:solidFill>
                <a:latin typeface="Arial"/>
                <a:ea typeface="Arial"/>
                <a:cs typeface="Arial"/>
              </a:rPr>
              <a:t>Get a streamed explanation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89F00-4365-4061-B695-F6DB843B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528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0">
                <a:solidFill>
                  <a:srgbClr val="A9B8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AE"/>
                </a:solidFill>
                <a:latin typeface="Arial"/>
                <a:ea typeface="Arial"/>
                <a:cs typeface="Arial"/>
              </a:rPr>
              <a:t>Qwen3:8B produces the answer progressively; users can stop it or open and close the side panel.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D0EAC-6117-4481-92CC-F9E910CD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6F3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6F3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A44F5-F738-4219-8648-FE9E2D30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958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F5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5EB"/>
                </a:solidFill>
                <a:latin typeface="Arial"/>
                <a:ea typeface="Arial"/>
                <a:cs typeface="Arial"/>
              </a:rPr>
              <a:t>Turn speech on if supported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E7765-D366-4859-9F49-2ECCD19C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29225"/>
            <a:ext cx="528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0">
                <a:solidFill>
                  <a:srgbClr val="A9B8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AE"/>
                </a:solidFill>
                <a:latin typeface="Arial"/>
                <a:ea typeface="Arial"/>
                <a:cs typeface="Arial"/>
              </a:rPr>
              <a:t>Spoken replies follow the selected language when gTTS supports it; text remains available.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3DC48-65F3-4A23-BB75-9C2BC994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0DFA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0DFAE"/>
                </a:solidFill>
                <a:latin typeface="Arial"/>
                <a:ea typeface="Arial"/>
                <a:cs typeface="Arial"/>
              </a:rPr>
              <a:t>TECHNOLOGY AND APPROACH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34B2A5-35BA-481D-B20A-84A057A5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05125"/>
            <a:ext cx="3905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F2F5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2F5EB"/>
                </a:solidFill>
                <a:latin typeface="Arial"/>
                <a:ea typeface="Arial"/>
                <a:cs typeface="Arial"/>
              </a:rPr>
              <a:t>Ollama runs Qwen3:8B. LangChain connects the prompt and document search. BGE-M3 and ChromaDB retrieve relevant passages from project learning documents. gTTS generates optional speech.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BE019-1E0B-490A-B41C-E24B3392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2C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C66D"/>
                </a:solidFill>
                <a:latin typeface="Arial"/>
                <a:ea typeface="Arial"/>
                <a:cs typeface="Arial"/>
              </a:rPr>
              <a:t>KEY 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818212-5C43-431B-9EC7-E2BCD570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24500"/>
            <a:ext cx="3905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0">
                <a:solidFill>
                  <a:srgbClr val="A9B8A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AE"/>
                </a:solidFill>
                <a:latin typeface="Arial"/>
                <a:ea typeface="Arial"/>
                <a:cs typeface="Arial"/>
              </a:rPr>
              <a:t>Built for general financial education and fraud awareness. It does not provide personalised investment advice or stock picks.</a:t>
            </a:r>
          </a:p>
        </p:txBody>
      </p:sp>
    </p:spTree>
    <p:extLst>
      <p:ext uri="{BB962C8B-B14F-4D97-AF65-F5344CB8AC3E}">
        <p14:creationId xmlns:p14="http://schemas.microsoft.com/office/powerpoint/2010/main" val="7720299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2026-10-03T17:34:11.1060000Z</dcterms:created>
  <dcterms:modified xsi:type="dcterms:W3CDTF">2026-10-03T17:34:11.1060000Z</dcterms:modified>
</coreProperties>
</file>